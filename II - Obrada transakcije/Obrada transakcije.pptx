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06DC7D-1D7B-DC52-B816-49DCD039E462}" v="540" dt="2026-01-19T13:30:18.191"/>
    <p1510:client id="{DCCFF412-6420-8A0B-2DFA-44E0F1D9834D}" v="734" dt="2026-01-19T14:17:07.6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Обрада</a:t>
            </a:r>
            <a:r>
              <a:rPr lang="en-US" dirty="0"/>
              <a:t> </a:t>
            </a:r>
            <a:r>
              <a:rPr lang="en-US" dirty="0" err="1"/>
              <a:t>трансакција</a:t>
            </a:r>
            <a:r>
              <a:rPr lang="en-US" dirty="0"/>
              <a:t>, </a:t>
            </a:r>
            <a:r>
              <a:rPr lang="en-US" dirty="0" err="1"/>
              <a:t>планови</a:t>
            </a:r>
            <a:r>
              <a:rPr lang="en-US" dirty="0"/>
              <a:t> </a:t>
            </a:r>
            <a:r>
              <a:rPr lang="en-US" dirty="0" err="1"/>
              <a:t>извршавања</a:t>
            </a:r>
            <a:r>
              <a:rPr lang="en-US" dirty="0"/>
              <a:t> </a:t>
            </a:r>
            <a:r>
              <a:rPr lang="en-US" dirty="0" err="1"/>
              <a:t>трансакција</a:t>
            </a:r>
            <a:r>
              <a:rPr lang="en-US" dirty="0"/>
              <a:t>, </a:t>
            </a:r>
            <a:r>
              <a:rPr lang="en-US" dirty="0" err="1"/>
              <a:t>изолација</a:t>
            </a:r>
            <a:r>
              <a:rPr lang="en-US" dirty="0"/>
              <a:t> и </a:t>
            </a:r>
            <a:r>
              <a:rPr lang="en-US" dirty="0" err="1"/>
              <a:t>закључавање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94180" y="5391454"/>
            <a:ext cx="4563439" cy="146740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err="1"/>
              <a:t>Студент</a:t>
            </a:r>
            <a:r>
              <a:rPr lang="en-US" dirty="0"/>
              <a:t>: </a:t>
            </a:r>
            <a:endParaRPr lang="en-US"/>
          </a:p>
          <a:p>
            <a:r>
              <a:rPr lang="en-US" dirty="0" err="1"/>
              <a:t>Петар</a:t>
            </a:r>
            <a:r>
              <a:rPr lang="en-US" dirty="0"/>
              <a:t> </a:t>
            </a:r>
            <a:r>
              <a:rPr lang="en-US" dirty="0" err="1"/>
              <a:t>Коматина</a:t>
            </a:r>
            <a:r>
              <a:rPr lang="en-US" dirty="0"/>
              <a:t> 1932 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8C3DDB-1CB6-48BD-579B-BFC64B73F746}"/>
              </a:ext>
            </a:extLst>
          </p:cNvPr>
          <p:cNvSpPr txBox="1"/>
          <p:nvPr/>
        </p:nvSpPr>
        <p:spPr>
          <a:xfrm>
            <a:off x="6097553" y="5387897"/>
            <a:ext cx="603020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err="1"/>
              <a:t>Професор</a:t>
            </a:r>
            <a:r>
              <a:rPr lang="en-US" sz="2400" dirty="0"/>
              <a:t>:</a:t>
            </a:r>
            <a:br>
              <a:rPr lang="en-US" sz="2400" dirty="0"/>
            </a:br>
            <a:r>
              <a:rPr lang="en-US" sz="2400" err="1"/>
              <a:t>Проф</a:t>
            </a:r>
            <a:r>
              <a:rPr lang="en-US" sz="2400" dirty="0"/>
              <a:t>. </a:t>
            </a:r>
            <a:r>
              <a:rPr lang="en-US" sz="2400" err="1"/>
              <a:t>Др</a:t>
            </a:r>
            <a:r>
              <a:rPr lang="en-US" sz="2400" dirty="0"/>
              <a:t>. </a:t>
            </a:r>
            <a:r>
              <a:rPr lang="en-US" sz="2400" err="1"/>
              <a:t>Александар</a:t>
            </a:r>
            <a:r>
              <a:rPr lang="en-US" sz="2400" dirty="0"/>
              <a:t> </a:t>
            </a:r>
            <a:r>
              <a:rPr lang="en-US" sz="2400" err="1"/>
              <a:t>Станимировић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FD0DFC-DFB0-72F4-E474-1BC537FE9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АCID модел трансакција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BEF5E-E0F0-161D-CDD1-0C8EB67E1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/>
              <a:t>Атомичност</a:t>
            </a:r>
            <a:r>
              <a:rPr lang="en-US" dirty="0"/>
              <a:t>: </a:t>
            </a:r>
            <a:r>
              <a:rPr lang="en-US" dirty="0" err="1"/>
              <a:t>Све</a:t>
            </a:r>
            <a:r>
              <a:rPr lang="en-US" dirty="0"/>
              <a:t> </a:t>
            </a:r>
            <a:r>
              <a:rPr lang="en-US" dirty="0" err="1"/>
              <a:t>операције</a:t>
            </a:r>
            <a:r>
              <a:rPr lang="en-US" dirty="0"/>
              <a:t> </a:t>
            </a:r>
            <a:r>
              <a:rPr lang="en-US" dirty="0" err="1"/>
              <a:t>унутар</a:t>
            </a:r>
            <a:r>
              <a:rPr lang="en-US" dirty="0"/>
              <a:t> </a:t>
            </a:r>
            <a:r>
              <a:rPr lang="en-US" dirty="0" err="1"/>
              <a:t>једне</a:t>
            </a:r>
            <a:r>
              <a:rPr lang="en-US" dirty="0"/>
              <a:t> </a:t>
            </a:r>
            <a:r>
              <a:rPr lang="en-US" dirty="0" err="1"/>
              <a:t>трансакције</a:t>
            </a:r>
            <a:r>
              <a:rPr lang="en-US" dirty="0"/>
              <a:t> </a:t>
            </a:r>
            <a:r>
              <a:rPr lang="en-US" dirty="0" err="1"/>
              <a:t>третирају</a:t>
            </a:r>
            <a:r>
              <a:rPr lang="en-US" dirty="0"/>
              <a:t>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/>
              <a:t>као</a:t>
            </a:r>
            <a:r>
              <a:rPr lang="en-US" dirty="0"/>
              <a:t> </a:t>
            </a:r>
            <a:r>
              <a:rPr lang="en-US" dirty="0" err="1"/>
              <a:t>јединствена</a:t>
            </a:r>
            <a:r>
              <a:rPr lang="en-US" dirty="0"/>
              <a:t> </a:t>
            </a:r>
            <a:r>
              <a:rPr lang="en-US" dirty="0" err="1"/>
              <a:t>целина</a:t>
            </a:r>
            <a:r>
              <a:rPr lang="en-US" dirty="0"/>
              <a:t>. </a:t>
            </a:r>
          </a:p>
          <a:p>
            <a:r>
              <a:rPr lang="en-US" dirty="0" err="1"/>
              <a:t>Конзистентност</a:t>
            </a:r>
            <a:r>
              <a:rPr lang="en-US" dirty="0"/>
              <a:t>: </a:t>
            </a:r>
            <a:r>
              <a:rPr lang="en-US" dirty="0" err="1"/>
              <a:t>База</a:t>
            </a:r>
            <a:r>
              <a:rPr lang="en-US" dirty="0"/>
              <a:t> </a:t>
            </a:r>
            <a:r>
              <a:rPr lang="en-US" dirty="0" err="1"/>
              <a:t>података</a:t>
            </a:r>
            <a:r>
              <a:rPr lang="en-US" dirty="0"/>
              <a:t> </a:t>
            </a:r>
            <a:r>
              <a:rPr lang="en-US" dirty="0" err="1"/>
              <a:t>мора</a:t>
            </a:r>
            <a:r>
              <a:rPr lang="en-US" dirty="0"/>
              <a:t> </a:t>
            </a:r>
            <a:r>
              <a:rPr lang="en-US" dirty="0" err="1"/>
              <a:t>бити</a:t>
            </a:r>
            <a:r>
              <a:rPr lang="en-US" dirty="0"/>
              <a:t> у </a:t>
            </a:r>
            <a:r>
              <a:rPr lang="en-US" dirty="0" err="1"/>
              <a:t>неком</a:t>
            </a:r>
            <a:r>
              <a:rPr lang="en-US" dirty="0"/>
              <a:t> </a:t>
            </a:r>
            <a:r>
              <a:rPr lang="en-US" dirty="0" err="1"/>
              <a:t>од</a:t>
            </a:r>
            <a:r>
              <a:rPr lang="en-US" dirty="0"/>
              <a:t> </a:t>
            </a:r>
            <a:r>
              <a:rPr lang="en-US" dirty="0" err="1"/>
              <a:t>валидних</a:t>
            </a:r>
            <a:r>
              <a:rPr lang="en-US" dirty="0"/>
              <a:t> </a:t>
            </a:r>
            <a:r>
              <a:rPr lang="en-US" dirty="0" err="1"/>
              <a:t>стања</a:t>
            </a:r>
            <a:r>
              <a:rPr lang="en-US" dirty="0"/>
              <a:t>.</a:t>
            </a:r>
          </a:p>
          <a:p>
            <a:r>
              <a:rPr lang="en-US" dirty="0" err="1"/>
              <a:t>Изолација</a:t>
            </a:r>
            <a:r>
              <a:rPr lang="en-US" dirty="0"/>
              <a:t>: </a:t>
            </a:r>
            <a:r>
              <a:rPr lang="en-US" dirty="0" err="1"/>
              <a:t>Паралелне</a:t>
            </a:r>
            <a:r>
              <a:rPr lang="en-US" dirty="0"/>
              <a:t> </a:t>
            </a:r>
            <a:r>
              <a:rPr lang="en-US" dirty="0" err="1"/>
              <a:t>трансакције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утичу</a:t>
            </a:r>
            <a:r>
              <a:rPr lang="en-US" dirty="0"/>
              <a:t> </a:t>
            </a:r>
            <a:r>
              <a:rPr lang="en-US" dirty="0" err="1"/>
              <a:t>једне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друге</a:t>
            </a:r>
            <a:r>
              <a:rPr lang="en-US" dirty="0"/>
              <a:t>.</a:t>
            </a:r>
          </a:p>
          <a:p>
            <a:r>
              <a:rPr lang="en-US" dirty="0" err="1"/>
              <a:t>Издржљивост</a:t>
            </a:r>
            <a:r>
              <a:rPr lang="en-US" dirty="0"/>
              <a:t>: </a:t>
            </a:r>
            <a:r>
              <a:rPr lang="en-US" dirty="0" err="1"/>
              <a:t>Потврђене</a:t>
            </a:r>
            <a:r>
              <a:rPr lang="en-US" dirty="0"/>
              <a:t> </a:t>
            </a:r>
            <a:r>
              <a:rPr lang="en-US" dirty="0" err="1"/>
              <a:t>трансакције</a:t>
            </a:r>
            <a:r>
              <a:rPr lang="en-US" dirty="0"/>
              <a:t> </a:t>
            </a:r>
            <a:r>
              <a:rPr lang="en-US" dirty="0" err="1"/>
              <a:t>су</a:t>
            </a:r>
            <a:r>
              <a:rPr lang="en-US" dirty="0"/>
              <a:t> </a:t>
            </a:r>
            <a:r>
              <a:rPr lang="en-US" dirty="0" err="1"/>
              <a:t>трајно</a:t>
            </a:r>
            <a:r>
              <a:rPr lang="en-US" dirty="0"/>
              <a:t> </a:t>
            </a:r>
            <a:r>
              <a:rPr lang="en-US" dirty="0" err="1"/>
              <a:t>сачуване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495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37732-2D56-0467-C330-AB1B6ADB8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Феномени читања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93E5-69A8-81AA-BE42-CA5F4A2A5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Dirty read: </a:t>
            </a:r>
            <a:r>
              <a:rPr lang="en-US" dirty="0" err="1"/>
              <a:t>Трансакција</a:t>
            </a:r>
            <a:r>
              <a:rPr lang="en-US" dirty="0"/>
              <a:t> Т1 </a:t>
            </a:r>
            <a:r>
              <a:rPr lang="en-US" dirty="0" err="1"/>
              <a:t>чита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потврђену</a:t>
            </a:r>
            <a:r>
              <a:rPr lang="en-US" dirty="0"/>
              <a:t> </a:t>
            </a:r>
            <a:r>
              <a:rPr lang="en-US" dirty="0" err="1"/>
              <a:t>измену</a:t>
            </a:r>
            <a:r>
              <a:rPr lang="en-US" dirty="0"/>
              <a:t> </a:t>
            </a:r>
            <a:r>
              <a:rPr lang="en-US" dirty="0" err="1"/>
              <a:t>трансакције</a:t>
            </a:r>
            <a:r>
              <a:rPr lang="en-US" dirty="0"/>
              <a:t> Т2.</a:t>
            </a:r>
          </a:p>
          <a:p>
            <a:r>
              <a:rPr lang="en-US" dirty="0"/>
              <a:t>Non-Repeatable read: </a:t>
            </a:r>
            <a:r>
              <a:rPr lang="en-US" err="1"/>
              <a:t>Трансакција</a:t>
            </a:r>
            <a:r>
              <a:rPr lang="en-US" dirty="0"/>
              <a:t> Т1 </a:t>
            </a:r>
            <a:r>
              <a:rPr lang="en-US" b="1" err="1"/>
              <a:t>чита</a:t>
            </a:r>
            <a:r>
              <a:rPr lang="en-US" b="1" dirty="0"/>
              <a:t> </a:t>
            </a:r>
            <a:r>
              <a:rPr lang="en-US" b="1" err="1"/>
              <a:t>исти</a:t>
            </a:r>
            <a:r>
              <a:rPr lang="en-US" dirty="0"/>
              <a:t> </a:t>
            </a:r>
            <a:r>
              <a:rPr lang="en-US" b="1" err="1"/>
              <a:t>ред</a:t>
            </a:r>
            <a:r>
              <a:rPr lang="en-US" b="1" dirty="0"/>
              <a:t> </a:t>
            </a:r>
            <a:r>
              <a:rPr lang="en-US" err="1"/>
              <a:t>више</a:t>
            </a:r>
            <a:r>
              <a:rPr lang="en-US" dirty="0"/>
              <a:t> </a:t>
            </a:r>
            <a:r>
              <a:rPr lang="en-US" err="1"/>
              <a:t>пута</a:t>
            </a:r>
            <a:r>
              <a:rPr lang="en-US" dirty="0"/>
              <a:t> и </a:t>
            </a:r>
            <a:r>
              <a:rPr lang="en-US" err="1"/>
              <a:t>добија</a:t>
            </a:r>
            <a:r>
              <a:rPr lang="en-US" dirty="0"/>
              <a:t> </a:t>
            </a:r>
            <a:r>
              <a:rPr lang="en-US" err="1"/>
              <a:t>различит</a:t>
            </a:r>
            <a:r>
              <a:rPr lang="en-US" dirty="0"/>
              <a:t> </a:t>
            </a:r>
            <a:r>
              <a:rPr lang="en-US" err="1"/>
              <a:t>резултат</a:t>
            </a:r>
            <a:r>
              <a:rPr lang="en-US" dirty="0"/>
              <a:t>.</a:t>
            </a:r>
          </a:p>
          <a:p>
            <a:r>
              <a:rPr lang="en-US" dirty="0"/>
              <a:t>Phantom Read: </a:t>
            </a:r>
            <a:r>
              <a:rPr lang="en-US" dirty="0" err="1"/>
              <a:t>Трансакција</a:t>
            </a:r>
            <a:r>
              <a:rPr lang="en-US" dirty="0"/>
              <a:t> Т1 </a:t>
            </a:r>
            <a:r>
              <a:rPr lang="en-US" b="1" dirty="0" err="1"/>
              <a:t>изврши</a:t>
            </a:r>
            <a:r>
              <a:rPr lang="en-US" dirty="0"/>
              <a:t> </a:t>
            </a:r>
            <a:r>
              <a:rPr lang="en-US" b="1" dirty="0" err="1"/>
              <a:t>упит</a:t>
            </a:r>
            <a:r>
              <a:rPr lang="en-US" b="1" dirty="0"/>
              <a:t> </a:t>
            </a:r>
            <a:r>
              <a:rPr lang="en-US" dirty="0" err="1"/>
              <a:t>више</a:t>
            </a:r>
            <a:r>
              <a:rPr lang="en-US" dirty="0"/>
              <a:t> </a:t>
            </a:r>
            <a:r>
              <a:rPr lang="en-US" dirty="0" err="1"/>
              <a:t>пута</a:t>
            </a:r>
            <a:r>
              <a:rPr lang="en-US" dirty="0"/>
              <a:t> и </a:t>
            </a:r>
            <a:r>
              <a:rPr lang="en-US" dirty="0" err="1"/>
              <a:t>добије</a:t>
            </a:r>
            <a:r>
              <a:rPr lang="en-US" dirty="0"/>
              <a:t> </a:t>
            </a:r>
            <a:r>
              <a:rPr lang="en-US" dirty="0" err="1"/>
              <a:t>различит</a:t>
            </a:r>
            <a:r>
              <a:rPr lang="en-US" dirty="0"/>
              <a:t> </a:t>
            </a:r>
            <a:r>
              <a:rPr lang="en-US" dirty="0" err="1"/>
              <a:t>резултат</a:t>
            </a:r>
            <a:r>
              <a:rPr lang="en-US" dirty="0"/>
              <a:t>.</a:t>
            </a:r>
          </a:p>
          <a:p>
            <a:r>
              <a:rPr lang="en-US" dirty="0"/>
              <a:t>Serialization anomaly: </a:t>
            </a:r>
            <a:r>
              <a:rPr lang="en-US" dirty="0" err="1"/>
              <a:t>Трансакције</a:t>
            </a:r>
            <a:r>
              <a:rPr lang="en-US" dirty="0"/>
              <a:t>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/>
              <a:t>паралелно</a:t>
            </a:r>
            <a:r>
              <a:rPr lang="en-US" dirty="0"/>
              <a:t> </a:t>
            </a:r>
            <a:r>
              <a:rPr lang="en-US" dirty="0" err="1"/>
              <a:t>извршавају</a:t>
            </a:r>
            <a:r>
              <a:rPr lang="en-US" dirty="0"/>
              <a:t> и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може</a:t>
            </a:r>
            <a:r>
              <a:rPr lang="en-US" dirty="0"/>
              <a:t>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/>
              <a:t>наћи</a:t>
            </a:r>
            <a:r>
              <a:rPr lang="en-US" dirty="0"/>
              <a:t> </a:t>
            </a:r>
            <a:r>
              <a:rPr lang="en-US" dirty="0" err="1"/>
              <a:t>секвенцијални</a:t>
            </a:r>
            <a:r>
              <a:rPr lang="en-US" dirty="0"/>
              <a:t> </a:t>
            </a:r>
            <a:r>
              <a:rPr lang="en-US" dirty="0" err="1"/>
              <a:t>редослед</a:t>
            </a:r>
            <a:r>
              <a:rPr lang="en-US" dirty="0"/>
              <a:t> </a:t>
            </a:r>
            <a:r>
              <a:rPr lang="en-US" dirty="0" err="1"/>
              <a:t>извршавања</a:t>
            </a:r>
            <a:r>
              <a:rPr lang="en-US" dirty="0"/>
              <a:t> </a:t>
            </a:r>
            <a:r>
              <a:rPr lang="en-US" dirty="0" err="1"/>
              <a:t>исте</a:t>
            </a:r>
            <a:r>
              <a:rPr lang="en-US" dirty="0"/>
              <a:t> </a:t>
            </a:r>
            <a:r>
              <a:rPr lang="en-US" dirty="0" err="1"/>
              <a:t>трансакције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09882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F0A3C7-20C5-47EB-E50D-BD0377806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600"/>
              <a:t>Изолација трансакције - Read Commited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617BD4A-7FE9-BF33-254C-5A0368B451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040" y="2845400"/>
            <a:ext cx="5614416" cy="3200216"/>
          </a:xfrm>
          <a:prstGeom prst="rect">
            <a:avLst/>
          </a:prstGeom>
        </p:spPr>
      </p:pic>
      <p:pic>
        <p:nvPicPr>
          <p:cNvPr id="8" name="Picture 7" descr="A white background with text&#10;&#10;AI-generated content may be incorrect.">
            <a:extLst>
              <a:ext uri="{FF2B5EF4-FFF2-40B4-BE49-F238E27FC236}">
                <a16:creationId xmlns:a16="http://schemas.microsoft.com/office/drawing/2014/main" id="{E11753DB-E1A4-87C7-5F61-C2F11544B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3624399"/>
            <a:ext cx="5614416" cy="164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399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B8C555-D0E5-1832-4961-7B879564E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4FA81-37D5-EF08-6F8F-8663DC991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600"/>
              <a:t>Изолација трансакције - Repeatable Read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49A2DE3-3DC6-D7B1-2CB8-9F26AD5D8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182265"/>
            <a:ext cx="5614416" cy="2526486"/>
          </a:xfrm>
          <a:prstGeom prst="rect">
            <a:avLst/>
          </a:prstGeom>
        </p:spPr>
      </p:pic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D13E08B-571E-D8D6-2B97-C08379AE1E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54496" y="3245427"/>
            <a:ext cx="5614416" cy="2400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757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D8D9B0-1D38-2423-9875-F9605D7AE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926789-A178-180B-D92D-18400A689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100"/>
              <a:t>Изолација трансакције - Serializable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9691627-1EE8-EEEF-D4B1-52C48AD478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040" y="3477022"/>
            <a:ext cx="5614416" cy="1936972"/>
          </a:xfrm>
          <a:prstGeom prst="rect">
            <a:avLst/>
          </a:prstGeom>
        </p:spPr>
      </p:pic>
      <p:pic>
        <p:nvPicPr>
          <p:cNvPr id="8" name="Picture 7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9CF54F63-898A-DDF7-7D52-48F896B3E4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3954247"/>
            <a:ext cx="5614416" cy="982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488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632CC1-614C-3292-FED6-BF55A510C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Граф првенства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FDAC3-22C2-4F30-0D04-598E8AF80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81" y="1922561"/>
            <a:ext cx="10909643" cy="55265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200"/>
              <a:t>Граф првенства приакзује конфликте између инструкција различитих трансакција. 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white sheet with black text and black text&#10;&#10;AI-generated content may be incorrect.">
            <a:extLst>
              <a:ext uri="{FF2B5EF4-FFF2-40B4-BE49-F238E27FC236}">
                <a16:creationId xmlns:a16="http://schemas.microsoft.com/office/drawing/2014/main" id="{3B6B03E3-43B4-09EF-3737-3978EE839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904" y="2642616"/>
            <a:ext cx="2298687" cy="3605784"/>
          </a:xfrm>
          <a:prstGeom prst="rect">
            <a:avLst/>
          </a:prstGeom>
        </p:spPr>
      </p:pic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A769E15D-797B-6764-A2E3-4D05FF95A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2978742"/>
            <a:ext cx="5614416" cy="2933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349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ED0FE2-E6EF-47EC-1C2F-A2AE49BC8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rgbClr val="FFFFFF"/>
                </a:solidFill>
              </a:rPr>
              <a:t>Закључавање трансакција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2B058-7149-978C-2407-384D3C668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600" err="1"/>
              <a:t>Док</a:t>
            </a:r>
            <a:r>
              <a:rPr lang="en-US" sz="2600"/>
              <a:t> </a:t>
            </a:r>
            <a:r>
              <a:rPr lang="en-US" sz="2600" err="1"/>
              <a:t>једна</a:t>
            </a:r>
            <a:r>
              <a:rPr lang="en-US" sz="2600"/>
              <a:t> </a:t>
            </a:r>
            <a:r>
              <a:rPr lang="en-US" sz="2600" err="1"/>
              <a:t>трансакција</a:t>
            </a:r>
            <a:r>
              <a:rPr lang="en-US" sz="2600"/>
              <a:t> </a:t>
            </a:r>
            <a:r>
              <a:rPr lang="en-US" sz="2600" err="1"/>
              <a:t>чита</a:t>
            </a:r>
            <a:r>
              <a:rPr lang="en-US" sz="2600"/>
              <a:t> </a:t>
            </a:r>
            <a:r>
              <a:rPr lang="en-US" sz="2600" err="1"/>
              <a:t>податак</a:t>
            </a:r>
            <a:r>
              <a:rPr lang="en-US" sz="2600"/>
              <a:t>, </a:t>
            </a:r>
            <a:r>
              <a:rPr lang="en-US" sz="2600" err="1"/>
              <a:t>ниједна</a:t>
            </a:r>
            <a:r>
              <a:rPr lang="en-US" sz="2600"/>
              <a:t> </a:t>
            </a:r>
            <a:r>
              <a:rPr lang="en-US" sz="2600" err="1"/>
              <a:t>друга</a:t>
            </a:r>
            <a:r>
              <a:rPr lang="en-US" sz="2600"/>
              <a:t> </a:t>
            </a:r>
            <a:r>
              <a:rPr lang="en-US" sz="2600" err="1"/>
              <a:t>трансакција</a:t>
            </a:r>
            <a:r>
              <a:rPr lang="en-US" sz="2600"/>
              <a:t> </a:t>
            </a:r>
            <a:r>
              <a:rPr lang="en-US" sz="2600" err="1"/>
              <a:t>не</a:t>
            </a:r>
            <a:r>
              <a:rPr lang="en-US" sz="2600"/>
              <a:t> </a:t>
            </a:r>
            <a:r>
              <a:rPr lang="en-US" sz="2600" err="1"/>
              <a:t>сме</a:t>
            </a:r>
            <a:r>
              <a:rPr lang="en-US" sz="2600"/>
              <a:t> </a:t>
            </a:r>
            <a:r>
              <a:rPr lang="en-US" sz="2600" err="1"/>
              <a:t>мењати</a:t>
            </a:r>
            <a:r>
              <a:rPr lang="en-US" sz="2600"/>
              <a:t> </a:t>
            </a:r>
            <a:r>
              <a:rPr lang="en-US" sz="2600" err="1"/>
              <a:t>исти</a:t>
            </a:r>
            <a:r>
              <a:rPr lang="en-US" sz="2600"/>
              <a:t> </a:t>
            </a:r>
            <a:r>
              <a:rPr lang="en-US" sz="2600" err="1"/>
              <a:t>податак</a:t>
            </a:r>
            <a:r>
              <a:rPr lang="en-US" sz="2600"/>
              <a:t>. </a:t>
            </a:r>
          </a:p>
          <a:p>
            <a:r>
              <a:rPr lang="en-US" sz="2600" err="1"/>
              <a:t>Механизам</a:t>
            </a:r>
            <a:r>
              <a:rPr lang="en-US" sz="2600"/>
              <a:t> </a:t>
            </a:r>
            <a:r>
              <a:rPr lang="en-US" sz="2600" err="1"/>
              <a:t>се</a:t>
            </a:r>
            <a:r>
              <a:rPr lang="en-US" sz="2600"/>
              <a:t> </a:t>
            </a:r>
            <a:r>
              <a:rPr lang="en-US" sz="2600" err="1"/>
              <a:t>остварује</a:t>
            </a:r>
            <a:r>
              <a:rPr lang="en-US" sz="2600"/>
              <a:t> </a:t>
            </a:r>
            <a:r>
              <a:rPr lang="en-US" sz="2600" err="1"/>
              <a:t>помоћу</a:t>
            </a:r>
            <a:r>
              <a:rPr lang="en-US" sz="2600"/>
              <a:t> </a:t>
            </a:r>
            <a:r>
              <a:rPr lang="en-US" sz="2600" err="1"/>
              <a:t>браве</a:t>
            </a:r>
            <a:r>
              <a:rPr lang="en-US" sz="2600"/>
              <a:t>. </a:t>
            </a:r>
            <a:r>
              <a:rPr lang="en-US" sz="2600" err="1"/>
              <a:t>Постоји</a:t>
            </a:r>
            <a:r>
              <a:rPr lang="en-US" sz="2600"/>
              <a:t> </a:t>
            </a:r>
            <a:r>
              <a:rPr lang="en-US" sz="2600" b="1" err="1"/>
              <a:t>дељена</a:t>
            </a:r>
            <a:r>
              <a:rPr lang="en-US" sz="2600"/>
              <a:t> и </a:t>
            </a:r>
            <a:r>
              <a:rPr lang="en-US" sz="2600" b="1" err="1"/>
              <a:t>екслузивна</a:t>
            </a:r>
            <a:r>
              <a:rPr lang="en-US" sz="2600"/>
              <a:t> </a:t>
            </a:r>
            <a:r>
              <a:rPr lang="en-US" sz="2600" err="1"/>
              <a:t>брава</a:t>
            </a:r>
            <a:r>
              <a:rPr lang="en-US" sz="2600"/>
              <a:t>.</a:t>
            </a:r>
          </a:p>
          <a:p>
            <a:r>
              <a:rPr lang="en-US" sz="2600" err="1"/>
              <a:t>Дељена</a:t>
            </a:r>
            <a:r>
              <a:rPr lang="en-US" sz="2600"/>
              <a:t> </a:t>
            </a:r>
            <a:r>
              <a:rPr lang="en-US" sz="2600" err="1"/>
              <a:t>брава</a:t>
            </a:r>
            <a:r>
              <a:rPr lang="en-US" sz="2600"/>
              <a:t> </a:t>
            </a:r>
            <a:r>
              <a:rPr lang="en-US" sz="2600" err="1"/>
              <a:t>гарантује</a:t>
            </a:r>
            <a:r>
              <a:rPr lang="en-US" sz="2600"/>
              <a:t> </a:t>
            </a:r>
            <a:r>
              <a:rPr lang="en-US" sz="2600" err="1"/>
              <a:t>да</a:t>
            </a:r>
            <a:r>
              <a:rPr lang="en-US" sz="2600"/>
              <a:t> </a:t>
            </a:r>
            <a:r>
              <a:rPr lang="en-US" sz="2600" err="1"/>
              <a:t>трансакција</a:t>
            </a:r>
            <a:r>
              <a:rPr lang="en-US" sz="2600"/>
              <a:t> </a:t>
            </a:r>
            <a:r>
              <a:rPr lang="en-US" sz="2600" err="1"/>
              <a:t>може</a:t>
            </a:r>
            <a:r>
              <a:rPr lang="en-US" sz="2600"/>
              <a:t> </a:t>
            </a:r>
            <a:r>
              <a:rPr lang="en-US" sz="2600" b="1" err="1"/>
              <a:t>читати</a:t>
            </a:r>
            <a:r>
              <a:rPr lang="en-US" sz="2600"/>
              <a:t> </a:t>
            </a:r>
            <a:r>
              <a:rPr lang="en-US" sz="2600" err="1"/>
              <a:t>али</a:t>
            </a:r>
            <a:r>
              <a:rPr lang="en-US" sz="2600"/>
              <a:t> </a:t>
            </a:r>
            <a:r>
              <a:rPr lang="en-US" sz="2600" b="1" err="1"/>
              <a:t>не</a:t>
            </a:r>
            <a:r>
              <a:rPr lang="en-US" sz="2600" b="1"/>
              <a:t> </a:t>
            </a:r>
            <a:r>
              <a:rPr lang="en-US" sz="2600" b="1" err="1"/>
              <a:t>сме</a:t>
            </a:r>
            <a:r>
              <a:rPr lang="en-US" sz="2600"/>
              <a:t> </a:t>
            </a:r>
            <a:r>
              <a:rPr lang="en-US" sz="2600" err="1"/>
              <a:t>уписивати</a:t>
            </a:r>
            <a:r>
              <a:rPr lang="en-US" sz="2600"/>
              <a:t>.</a:t>
            </a:r>
          </a:p>
          <a:p>
            <a:r>
              <a:rPr lang="en-US" sz="2600" err="1"/>
              <a:t>Екслузивна</a:t>
            </a:r>
            <a:r>
              <a:rPr lang="en-US" sz="2600"/>
              <a:t> </a:t>
            </a:r>
            <a:r>
              <a:rPr lang="en-US" sz="2600" err="1"/>
              <a:t>брава</a:t>
            </a:r>
            <a:r>
              <a:rPr lang="en-US" sz="2600"/>
              <a:t> </a:t>
            </a:r>
            <a:r>
              <a:rPr lang="en-US" sz="2600" err="1"/>
              <a:t>гарантује</a:t>
            </a:r>
            <a:r>
              <a:rPr lang="en-US" sz="2600"/>
              <a:t> </a:t>
            </a:r>
            <a:r>
              <a:rPr lang="en-US" sz="2600" err="1"/>
              <a:t>да</a:t>
            </a:r>
            <a:r>
              <a:rPr lang="en-US" sz="2600"/>
              <a:t> </a:t>
            </a:r>
            <a:r>
              <a:rPr lang="en-US" sz="2600" err="1"/>
              <a:t>трансакција</a:t>
            </a:r>
            <a:r>
              <a:rPr lang="en-US" sz="2600"/>
              <a:t> </a:t>
            </a:r>
            <a:r>
              <a:rPr lang="en-US" sz="2600" err="1"/>
              <a:t>може</a:t>
            </a:r>
            <a:r>
              <a:rPr lang="en-US" sz="2600"/>
              <a:t> </a:t>
            </a:r>
            <a:r>
              <a:rPr lang="en-US" sz="2600" b="1" err="1"/>
              <a:t>читати</a:t>
            </a:r>
            <a:r>
              <a:rPr lang="en-US" sz="2600"/>
              <a:t> и </a:t>
            </a:r>
            <a:r>
              <a:rPr lang="en-US" sz="2600" b="1" err="1"/>
              <a:t>уписивати</a:t>
            </a:r>
            <a:r>
              <a:rPr lang="en-US" sz="2600"/>
              <a:t>.</a:t>
            </a:r>
          </a:p>
          <a:p>
            <a:r>
              <a:rPr lang="en-US" sz="2600" err="1"/>
              <a:t>Менаџер</a:t>
            </a:r>
            <a:r>
              <a:rPr lang="en-US" sz="2600"/>
              <a:t> </a:t>
            </a:r>
            <a:r>
              <a:rPr lang="en-US" sz="2600" err="1"/>
              <a:t>за</a:t>
            </a:r>
            <a:r>
              <a:rPr lang="en-US" sz="2600"/>
              <a:t> </a:t>
            </a:r>
            <a:r>
              <a:rPr lang="en-US" sz="2600" err="1"/>
              <a:t>контролу</a:t>
            </a:r>
            <a:r>
              <a:rPr lang="en-US" sz="2600"/>
              <a:t> </a:t>
            </a:r>
            <a:r>
              <a:rPr lang="en-US" sz="2600" err="1"/>
              <a:t>конкурентности</a:t>
            </a:r>
            <a:r>
              <a:rPr lang="en-US" sz="2600"/>
              <a:t> </a:t>
            </a:r>
            <a:r>
              <a:rPr lang="en-US" sz="2600" err="1"/>
              <a:t>проверава</a:t>
            </a:r>
            <a:r>
              <a:rPr lang="en-US" sz="2600"/>
              <a:t> </a:t>
            </a:r>
            <a:r>
              <a:rPr lang="en-US" sz="2600" err="1"/>
              <a:t>да</a:t>
            </a:r>
            <a:r>
              <a:rPr lang="en-US" sz="2600"/>
              <a:t> </a:t>
            </a:r>
            <a:r>
              <a:rPr lang="en-US" sz="2600" err="1"/>
              <a:t>ли</a:t>
            </a:r>
            <a:r>
              <a:rPr lang="en-US" sz="2600"/>
              <a:t> </a:t>
            </a:r>
            <a:r>
              <a:rPr lang="en-US" sz="2600" err="1"/>
              <a:t>су</a:t>
            </a:r>
            <a:r>
              <a:rPr lang="en-US" sz="2600"/>
              <a:t> </a:t>
            </a:r>
            <a:r>
              <a:rPr lang="en-US" sz="2600" err="1"/>
              <a:t>браве</a:t>
            </a:r>
            <a:r>
              <a:rPr lang="en-US" sz="2600"/>
              <a:t> у </a:t>
            </a:r>
            <a:r>
              <a:rPr lang="en-US" sz="2600" err="1"/>
              <a:t>конфликту</a:t>
            </a:r>
            <a:r>
              <a:rPr lang="en-US" sz="2600"/>
              <a:t>, </a:t>
            </a:r>
            <a:r>
              <a:rPr lang="en-US" sz="2600" err="1"/>
              <a:t>као</a:t>
            </a:r>
            <a:r>
              <a:rPr lang="en-US" sz="2600"/>
              <a:t> и </a:t>
            </a:r>
            <a:r>
              <a:rPr lang="en-US" sz="2600" err="1"/>
              <a:t>провера</a:t>
            </a:r>
            <a:r>
              <a:rPr lang="en-US" sz="2600"/>
              <a:t> </a:t>
            </a:r>
            <a:r>
              <a:rPr lang="en-US" sz="2600" err="1"/>
              <a:t>да</a:t>
            </a:r>
            <a:r>
              <a:rPr lang="en-US" sz="2600"/>
              <a:t> </a:t>
            </a:r>
            <a:r>
              <a:rPr lang="en-US" sz="2600" err="1"/>
              <a:t>ли</a:t>
            </a:r>
            <a:r>
              <a:rPr lang="en-US" sz="2600"/>
              <a:t> </a:t>
            </a:r>
            <a:r>
              <a:rPr lang="en-US" sz="2600" err="1"/>
              <a:t>ниједна</a:t>
            </a:r>
            <a:r>
              <a:rPr lang="en-US" sz="2600"/>
              <a:t> </a:t>
            </a:r>
            <a:r>
              <a:rPr lang="en-US" sz="2600" err="1"/>
              <a:t>трансакција</a:t>
            </a:r>
            <a:r>
              <a:rPr lang="en-US" sz="2600"/>
              <a:t> </a:t>
            </a:r>
            <a:r>
              <a:rPr lang="en-US" sz="2600" err="1"/>
              <a:t>чека</a:t>
            </a:r>
            <a:r>
              <a:rPr lang="en-US" sz="2600"/>
              <a:t> </a:t>
            </a:r>
            <a:r>
              <a:rPr lang="en-US" sz="2600" err="1"/>
              <a:t>над</a:t>
            </a:r>
            <a:r>
              <a:rPr lang="en-US" sz="2600"/>
              <a:t> </a:t>
            </a:r>
            <a:r>
              <a:rPr lang="en-US" sz="2600" err="1"/>
              <a:t>истим</a:t>
            </a:r>
            <a:r>
              <a:rPr lang="en-US" sz="2600"/>
              <a:t> </a:t>
            </a:r>
            <a:r>
              <a:rPr lang="en-US" sz="2600" err="1"/>
              <a:t>податком</a:t>
            </a:r>
            <a:r>
              <a:rPr lang="en-US" sz="26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57372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096BB0-F4A3-B47D-864C-73BE9BEB2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823"/>
            <a:ext cx="3419856" cy="5583148"/>
          </a:xfrm>
        </p:spPr>
        <p:txBody>
          <a:bodyPr anchor="ctr">
            <a:normAutofit/>
          </a:bodyPr>
          <a:lstStyle/>
          <a:p>
            <a:r>
              <a:rPr lang="en-US" sz="4200"/>
              <a:t>Протоколи за закључавање - Двофазни протокол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67200" y="630936"/>
            <a:ext cx="18288" cy="5590381"/>
          </a:xfrm>
          <a:custGeom>
            <a:avLst/>
            <a:gdLst>
              <a:gd name="csX0" fmla="*/ 0 w 18288"/>
              <a:gd name="csY0" fmla="*/ 0 h 5590381"/>
              <a:gd name="csX1" fmla="*/ 18288 w 18288"/>
              <a:gd name="csY1" fmla="*/ 0 h 5590381"/>
              <a:gd name="csX2" fmla="*/ 18288 w 18288"/>
              <a:gd name="csY2" fmla="*/ 754701 h 5590381"/>
              <a:gd name="csX3" fmla="*/ 18288 w 18288"/>
              <a:gd name="csY3" fmla="*/ 1565307 h 5590381"/>
              <a:gd name="csX4" fmla="*/ 18288 w 18288"/>
              <a:gd name="csY4" fmla="*/ 2152297 h 5590381"/>
              <a:gd name="csX5" fmla="*/ 18288 w 18288"/>
              <a:gd name="csY5" fmla="*/ 2906998 h 5590381"/>
              <a:gd name="csX6" fmla="*/ 18288 w 18288"/>
              <a:gd name="csY6" fmla="*/ 3549892 h 5590381"/>
              <a:gd name="csX7" fmla="*/ 18288 w 18288"/>
              <a:gd name="csY7" fmla="*/ 4080978 h 5590381"/>
              <a:gd name="csX8" fmla="*/ 18288 w 18288"/>
              <a:gd name="csY8" fmla="*/ 4835680 h 5590381"/>
              <a:gd name="csX9" fmla="*/ 18288 w 18288"/>
              <a:gd name="csY9" fmla="*/ 5590381 h 5590381"/>
              <a:gd name="csX10" fmla="*/ 0 w 18288"/>
              <a:gd name="csY10" fmla="*/ 5590381 h 5590381"/>
              <a:gd name="csX11" fmla="*/ 0 w 18288"/>
              <a:gd name="csY11" fmla="*/ 4835680 h 5590381"/>
              <a:gd name="csX12" fmla="*/ 0 w 18288"/>
              <a:gd name="csY12" fmla="*/ 4304593 h 5590381"/>
              <a:gd name="csX13" fmla="*/ 0 w 18288"/>
              <a:gd name="csY13" fmla="*/ 3773507 h 5590381"/>
              <a:gd name="csX14" fmla="*/ 0 w 18288"/>
              <a:gd name="csY14" fmla="*/ 3186517 h 5590381"/>
              <a:gd name="csX15" fmla="*/ 0 w 18288"/>
              <a:gd name="csY15" fmla="*/ 2487720 h 5590381"/>
              <a:gd name="csX16" fmla="*/ 0 w 18288"/>
              <a:gd name="csY16" fmla="*/ 1956633 h 5590381"/>
              <a:gd name="csX17" fmla="*/ 0 w 18288"/>
              <a:gd name="csY17" fmla="*/ 1425547 h 5590381"/>
              <a:gd name="csX18" fmla="*/ 0 w 18288"/>
              <a:gd name="csY18" fmla="*/ 614942 h 5590381"/>
              <a:gd name="csX19" fmla="*/ 0 w 18288"/>
              <a:gd name="csY19" fmla="*/ 0 h 55903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18288" h="5590381" fill="none" extrusionOk="0">
                <a:moveTo>
                  <a:pt x="0" y="0"/>
                </a:moveTo>
                <a:cubicBezTo>
                  <a:pt x="7726" y="-435"/>
                  <a:pt x="14198" y="437"/>
                  <a:pt x="18288" y="0"/>
                </a:cubicBezTo>
                <a:cubicBezTo>
                  <a:pt x="-5226" y="225076"/>
                  <a:pt x="46275" y="562283"/>
                  <a:pt x="18288" y="754701"/>
                </a:cubicBezTo>
                <a:cubicBezTo>
                  <a:pt x="-9699" y="947119"/>
                  <a:pt x="30081" y="1239251"/>
                  <a:pt x="18288" y="1565307"/>
                </a:cubicBezTo>
                <a:cubicBezTo>
                  <a:pt x="6495" y="1891363"/>
                  <a:pt x="7160" y="1999140"/>
                  <a:pt x="18288" y="2152297"/>
                </a:cubicBezTo>
                <a:cubicBezTo>
                  <a:pt x="29417" y="2305454"/>
                  <a:pt x="28705" y="2598333"/>
                  <a:pt x="18288" y="2906998"/>
                </a:cubicBezTo>
                <a:cubicBezTo>
                  <a:pt x="7871" y="3215663"/>
                  <a:pt x="35263" y="3327412"/>
                  <a:pt x="18288" y="3549892"/>
                </a:cubicBezTo>
                <a:cubicBezTo>
                  <a:pt x="1313" y="3772372"/>
                  <a:pt x="38561" y="3843836"/>
                  <a:pt x="18288" y="4080978"/>
                </a:cubicBezTo>
                <a:cubicBezTo>
                  <a:pt x="-1985" y="4318120"/>
                  <a:pt x="-3806" y="4511166"/>
                  <a:pt x="18288" y="4835680"/>
                </a:cubicBezTo>
                <a:cubicBezTo>
                  <a:pt x="40382" y="5160194"/>
                  <a:pt x="-13070" y="5401748"/>
                  <a:pt x="18288" y="5590381"/>
                </a:cubicBezTo>
                <a:cubicBezTo>
                  <a:pt x="12010" y="5589863"/>
                  <a:pt x="6799" y="5589982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8288" h="5590381" stroke="0" extrusionOk="0">
                <a:moveTo>
                  <a:pt x="0" y="0"/>
                </a:moveTo>
                <a:cubicBezTo>
                  <a:pt x="5871" y="848"/>
                  <a:pt x="11713" y="-200"/>
                  <a:pt x="18288" y="0"/>
                </a:cubicBezTo>
                <a:cubicBezTo>
                  <a:pt x="41141" y="165299"/>
                  <a:pt x="3613" y="427555"/>
                  <a:pt x="18288" y="698798"/>
                </a:cubicBezTo>
                <a:cubicBezTo>
                  <a:pt x="32963" y="970041"/>
                  <a:pt x="19680" y="1226199"/>
                  <a:pt x="18288" y="1397595"/>
                </a:cubicBezTo>
                <a:cubicBezTo>
                  <a:pt x="16896" y="1568991"/>
                  <a:pt x="38798" y="1794517"/>
                  <a:pt x="18288" y="2152297"/>
                </a:cubicBezTo>
                <a:cubicBezTo>
                  <a:pt x="-2222" y="2510077"/>
                  <a:pt x="40846" y="2594424"/>
                  <a:pt x="18288" y="2739287"/>
                </a:cubicBezTo>
                <a:cubicBezTo>
                  <a:pt x="-4270" y="2884150"/>
                  <a:pt x="27117" y="3129706"/>
                  <a:pt x="18288" y="3493988"/>
                </a:cubicBezTo>
                <a:cubicBezTo>
                  <a:pt x="9459" y="3858270"/>
                  <a:pt x="54201" y="4041447"/>
                  <a:pt x="18288" y="4304593"/>
                </a:cubicBezTo>
                <a:cubicBezTo>
                  <a:pt x="-17625" y="4567740"/>
                  <a:pt x="49627" y="5149125"/>
                  <a:pt x="18288" y="5590381"/>
                </a:cubicBezTo>
                <a:cubicBezTo>
                  <a:pt x="10860" y="5590744"/>
                  <a:pt x="7568" y="5590157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diagram of a lock point&#10;&#10;AI-generated content may be incorrect.">
            <a:extLst>
              <a:ext uri="{FF2B5EF4-FFF2-40B4-BE49-F238E27FC236}">
                <a16:creationId xmlns:a16="http://schemas.microsoft.com/office/drawing/2014/main" id="{90CA7312-5CE4-0CC6-4792-19967D57F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027854"/>
            <a:ext cx="6894576" cy="311979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78AB6-387F-8FFF-00CF-9BE223CAD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4798577"/>
            <a:ext cx="6894576" cy="14284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/>
              <a:t>Растућа фаза: Трансакција прибавља браву.</a:t>
            </a:r>
          </a:p>
          <a:p>
            <a:r>
              <a:rPr lang="en-US" sz="2200"/>
              <a:t>Смањујућа фаза: Трансакција ослобађа браву.</a:t>
            </a:r>
          </a:p>
          <a:p>
            <a:pPr marL="0" indent="0">
              <a:buNone/>
            </a:pP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3617979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A85027-0CE2-F904-2CB9-7FFBA7F06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Двофазни протокол - Наставак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C5DD2-94D0-C00D-014A-4B9FA50C1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/>
              <a:t>Протокол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решава</a:t>
            </a:r>
            <a:r>
              <a:rPr lang="en-US" dirty="0"/>
              <a:t> </a:t>
            </a:r>
            <a:r>
              <a:rPr lang="en-US" dirty="0" err="1"/>
              <a:t>проблем</a:t>
            </a:r>
            <a:r>
              <a:rPr lang="en-US" dirty="0"/>
              <a:t> </a:t>
            </a:r>
            <a:r>
              <a:rPr lang="en-US" dirty="0" err="1"/>
              <a:t>застоја</a:t>
            </a:r>
            <a:r>
              <a:rPr lang="en-US" dirty="0"/>
              <a:t>.</a:t>
            </a:r>
          </a:p>
          <a:p>
            <a:r>
              <a:rPr lang="en-US" dirty="0" err="1"/>
              <a:t>Уколико</a:t>
            </a:r>
            <a:r>
              <a:rPr lang="en-US" dirty="0"/>
              <a:t> </a:t>
            </a:r>
            <a:r>
              <a:rPr lang="en-US" dirty="0" err="1"/>
              <a:t>трансакција</a:t>
            </a:r>
            <a:r>
              <a:rPr lang="en-US" dirty="0"/>
              <a:t> Т1 </a:t>
            </a:r>
            <a:r>
              <a:rPr lang="en-US" dirty="0" err="1"/>
              <a:t>генерише</a:t>
            </a:r>
            <a:r>
              <a:rPr lang="en-US" dirty="0"/>
              <a:t> </a:t>
            </a:r>
            <a:r>
              <a:rPr lang="en-US" dirty="0" err="1"/>
              <a:t>грешку</a:t>
            </a:r>
            <a:r>
              <a:rPr lang="en-US" dirty="0"/>
              <a:t>, </a:t>
            </a:r>
            <a:r>
              <a:rPr lang="en-US" dirty="0" err="1"/>
              <a:t>остале</a:t>
            </a:r>
            <a:r>
              <a:rPr lang="en-US" dirty="0"/>
              <a:t> </a:t>
            </a:r>
            <a:r>
              <a:rPr lang="en-US" dirty="0" err="1"/>
              <a:t>трансакције</a:t>
            </a:r>
            <a:r>
              <a:rPr lang="en-US" dirty="0"/>
              <a:t> </a:t>
            </a:r>
            <a:r>
              <a:rPr lang="en-US" dirty="0" err="1"/>
              <a:t>које</a:t>
            </a:r>
            <a:r>
              <a:rPr lang="en-US" dirty="0"/>
              <a:t> </a:t>
            </a:r>
            <a:r>
              <a:rPr lang="en-US" dirty="0" err="1"/>
              <a:t>су</a:t>
            </a:r>
            <a:r>
              <a:rPr lang="en-US" dirty="0"/>
              <a:t> </a:t>
            </a:r>
            <a:r>
              <a:rPr lang="en-US" dirty="0" err="1"/>
              <a:t>зависиле</a:t>
            </a:r>
            <a:r>
              <a:rPr lang="en-US" dirty="0"/>
              <a:t> </a:t>
            </a:r>
            <a:r>
              <a:rPr lang="en-US" dirty="0" err="1"/>
              <a:t>од</a:t>
            </a:r>
            <a:r>
              <a:rPr lang="en-US" dirty="0"/>
              <a:t> Т1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/>
              <a:t>поништавају</a:t>
            </a:r>
            <a:r>
              <a:rPr lang="en-US" dirty="0"/>
              <a:t>.</a:t>
            </a:r>
          </a:p>
          <a:p>
            <a:r>
              <a:rPr lang="en-US" err="1"/>
              <a:t>Стриктно</a:t>
            </a:r>
            <a:r>
              <a:rPr lang="en-US" dirty="0"/>
              <a:t> </a:t>
            </a:r>
            <a:r>
              <a:rPr lang="en-US" err="1"/>
              <a:t>двофазно</a:t>
            </a:r>
            <a:r>
              <a:rPr lang="en-US" dirty="0"/>
              <a:t> </a:t>
            </a:r>
            <a:r>
              <a:rPr lang="en-US" err="1"/>
              <a:t>закључавање</a:t>
            </a:r>
            <a:r>
              <a:rPr lang="en-US" dirty="0"/>
              <a:t>: </a:t>
            </a:r>
            <a:r>
              <a:rPr lang="en-US" err="1"/>
              <a:t>Трансакције</a:t>
            </a:r>
            <a:r>
              <a:rPr lang="en-US" dirty="0"/>
              <a:t> </a:t>
            </a:r>
            <a:r>
              <a:rPr lang="en-US" err="1"/>
              <a:t>које</a:t>
            </a:r>
            <a:r>
              <a:rPr lang="en-US" dirty="0"/>
              <a:t> </a:t>
            </a:r>
            <a:r>
              <a:rPr lang="en-US" err="1"/>
              <a:t>су</a:t>
            </a:r>
            <a:r>
              <a:rPr lang="en-US" dirty="0"/>
              <a:t> </a:t>
            </a:r>
            <a:r>
              <a:rPr lang="en-US" err="1"/>
              <a:t>узеле</a:t>
            </a:r>
            <a:r>
              <a:rPr lang="en-US" dirty="0"/>
              <a:t> </a:t>
            </a:r>
            <a:r>
              <a:rPr lang="en-US" err="1"/>
              <a:t>екслузивну</a:t>
            </a:r>
            <a:r>
              <a:rPr lang="en-US" dirty="0"/>
              <a:t> </a:t>
            </a:r>
            <a:r>
              <a:rPr lang="en-US" err="1"/>
              <a:t>браву</a:t>
            </a:r>
            <a:r>
              <a:rPr lang="en-US" dirty="0"/>
              <a:t> </a:t>
            </a:r>
            <a:r>
              <a:rPr lang="en-US" err="1"/>
              <a:t>ослобађају</a:t>
            </a:r>
            <a:r>
              <a:rPr lang="en-US" dirty="0"/>
              <a:t> </a:t>
            </a:r>
            <a:r>
              <a:rPr lang="en-US" err="1"/>
              <a:t>се</a:t>
            </a:r>
            <a:r>
              <a:rPr lang="en-US" dirty="0"/>
              <a:t> </a:t>
            </a:r>
            <a:r>
              <a:rPr lang="en-US" err="1"/>
              <a:t>тек</a:t>
            </a:r>
            <a:r>
              <a:rPr lang="en-US" dirty="0"/>
              <a:t> </a:t>
            </a:r>
            <a:r>
              <a:rPr lang="en-US" err="1"/>
              <a:t>након</a:t>
            </a:r>
            <a:r>
              <a:rPr lang="en-US" dirty="0"/>
              <a:t> </a:t>
            </a:r>
            <a:r>
              <a:rPr lang="en-US" err="1"/>
              <a:t>потврђивања</a:t>
            </a:r>
            <a:r>
              <a:rPr lang="en-US" dirty="0"/>
              <a:t> </a:t>
            </a:r>
            <a:r>
              <a:rPr lang="en-US" err="1"/>
              <a:t>трансакције</a:t>
            </a:r>
            <a:r>
              <a:rPr lang="en-US" dirty="0"/>
              <a:t>. </a:t>
            </a:r>
          </a:p>
          <a:p>
            <a:r>
              <a:rPr lang="en-US" dirty="0" err="1"/>
              <a:t>Ригорозно</a:t>
            </a:r>
            <a:r>
              <a:rPr lang="en-US" dirty="0"/>
              <a:t> </a:t>
            </a:r>
            <a:r>
              <a:rPr lang="en-US" dirty="0" err="1"/>
              <a:t>двофазно</a:t>
            </a:r>
            <a:r>
              <a:rPr lang="en-US" dirty="0"/>
              <a:t> </a:t>
            </a:r>
            <a:r>
              <a:rPr lang="en-US" dirty="0" err="1"/>
              <a:t>закључавање</a:t>
            </a:r>
            <a:r>
              <a:rPr lang="en-US" dirty="0"/>
              <a:t>: </a:t>
            </a:r>
            <a:r>
              <a:rPr lang="en-US" dirty="0" err="1"/>
              <a:t>Трансакције</a:t>
            </a:r>
            <a:r>
              <a:rPr lang="en-US" dirty="0"/>
              <a:t> </a:t>
            </a:r>
            <a:r>
              <a:rPr lang="en-US" dirty="0" err="1"/>
              <a:t>држе</a:t>
            </a:r>
            <a:r>
              <a:rPr lang="en-US" dirty="0"/>
              <a:t> </a:t>
            </a:r>
            <a:r>
              <a:rPr lang="en-US" dirty="0" err="1"/>
              <a:t>браве</a:t>
            </a:r>
            <a:r>
              <a:rPr lang="en-US" dirty="0"/>
              <a:t> </a:t>
            </a:r>
            <a:r>
              <a:rPr lang="en-US" dirty="0" err="1"/>
              <a:t>док</a:t>
            </a:r>
            <a:r>
              <a:rPr lang="en-US" dirty="0"/>
              <a:t>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/>
              <a:t>трансакција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потврди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214318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83A890-3A2F-70A4-3A5C-F30C004F8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Протоколи за закључавање - Граф протокол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1A4BA2-2BF7-9EE2-218D-58F28FC00739}"/>
              </a:ext>
            </a:extLst>
          </p:cNvPr>
          <p:cNvSpPr txBox="1"/>
          <p:nvPr/>
        </p:nvSpPr>
        <p:spPr>
          <a:xfrm>
            <a:off x="630936" y="2660904"/>
            <a:ext cx="4818888" cy="354787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i="1"/>
              <a:t>D={d</a:t>
            </a:r>
            <a:r>
              <a:rPr lang="en-US" sz="2200" i="1" baseline="-25000"/>
              <a:t>1</a:t>
            </a:r>
            <a:r>
              <a:rPr lang="en-US" sz="2200" i="1"/>
              <a:t> ,d</a:t>
            </a:r>
            <a:r>
              <a:rPr lang="en-US" sz="2200" i="1" baseline="-25000"/>
              <a:t>2</a:t>
            </a:r>
            <a:r>
              <a:rPr lang="en-US" sz="2200" i="1"/>
              <a:t> ,…,d</a:t>
            </a:r>
            <a:r>
              <a:rPr lang="en-US" sz="2200" i="1" baseline="-25000"/>
              <a:t>h</a:t>
            </a:r>
            <a:r>
              <a:rPr lang="en-US" sz="2200" i="1"/>
              <a:t> } </a:t>
            </a:r>
            <a:r>
              <a:rPr lang="en-US" sz="2200"/>
              <a:t>je свих података. У случају да важи </a:t>
            </a:r>
            <a:r>
              <a:rPr lang="en-US" sz="2200" b="1" i="1"/>
              <a:t>d</a:t>
            </a:r>
            <a:r>
              <a:rPr lang="en-US" sz="2200" b="1" i="1" baseline="-25000"/>
              <a:t>i</a:t>
            </a:r>
            <a:r>
              <a:rPr lang="en-US" sz="2200" b="1" i="1"/>
              <a:t> -&gt; d</a:t>
            </a:r>
            <a:r>
              <a:rPr lang="en-US" sz="2200" b="1" i="1" baseline="-25000"/>
              <a:t>j</a:t>
            </a:r>
            <a:r>
              <a:rPr lang="en-US" sz="2200"/>
              <a:t>, тада свака трансакција која приступа и податку </a:t>
            </a:r>
            <a:r>
              <a:rPr lang="en-US" sz="2200" b="1"/>
              <a:t>d</a:t>
            </a:r>
            <a:r>
              <a:rPr lang="en-US" sz="2200" b="1" baseline="-25000"/>
              <a:t>i</a:t>
            </a:r>
            <a:r>
              <a:rPr lang="en-US" sz="2200"/>
              <a:t> и податку </a:t>
            </a:r>
            <a:r>
              <a:rPr lang="en-US" sz="2200" b="1"/>
              <a:t>d</a:t>
            </a:r>
            <a:r>
              <a:rPr lang="en-US" sz="2200" b="1" baseline="-25000"/>
              <a:t>j</a:t>
            </a:r>
            <a:r>
              <a:rPr lang="en-US" sz="2200" baseline="-25000"/>
              <a:t>,</a:t>
            </a:r>
            <a:r>
              <a:rPr lang="en-US" sz="2200"/>
              <a:t> мора приступити податку </a:t>
            </a:r>
            <a:r>
              <a:rPr lang="en-US" sz="2200" b="1"/>
              <a:t>d</a:t>
            </a:r>
            <a:r>
              <a:rPr lang="en-US" sz="2200" b="1" baseline="-25000"/>
              <a:t>i</a:t>
            </a:r>
            <a:r>
              <a:rPr lang="en-US" sz="2200"/>
              <a:t>, а тек потом податку </a:t>
            </a:r>
            <a:r>
              <a:rPr lang="en-US" sz="2200" b="1"/>
              <a:t>d</a:t>
            </a:r>
            <a:r>
              <a:rPr lang="en-US" sz="2200" b="1" baseline="-25000"/>
              <a:t>j</a:t>
            </a:r>
            <a:r>
              <a:rPr lang="en-US" sz="2200"/>
              <a:t>.</a:t>
            </a:r>
          </a:p>
        </p:txBody>
      </p:sp>
      <p:pic>
        <p:nvPicPr>
          <p:cNvPr id="4" name="Content Placeholder 3" descr="A table with text on it&#10;&#10;AI-generated content may be incorrect.">
            <a:extLst>
              <a:ext uri="{FF2B5EF4-FFF2-40B4-BE49-F238E27FC236}">
                <a16:creationId xmlns:a16="http://schemas.microsoft.com/office/drawing/2014/main" id="{41C6DBFA-6993-2850-1681-7CB484EF78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9048" y="1518361"/>
            <a:ext cx="5458968" cy="3821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967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Обрада трансакција, планови извршавања трансакција, изолација и закључавање</vt:lpstr>
      <vt:lpstr>АCID модел трансакција</vt:lpstr>
      <vt:lpstr>Феномени читања</vt:lpstr>
      <vt:lpstr>Изолација трансакције - Read Commited</vt:lpstr>
      <vt:lpstr>Изолација трансакције - Repeatable Read</vt:lpstr>
      <vt:lpstr>Изолација трансакције - Serializable</vt:lpstr>
      <vt:lpstr>Граф првенства</vt:lpstr>
      <vt:lpstr>Закључавање трансакција</vt:lpstr>
      <vt:lpstr>Протоколи за закључавање - Двофазни протокол</vt:lpstr>
      <vt:lpstr>Двофазни протокол - Наставак</vt:lpstr>
      <vt:lpstr>Протоколи за закључавање - Граф протокол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182</cp:revision>
  <dcterms:created xsi:type="dcterms:W3CDTF">2013-07-15T20:26:40Z</dcterms:created>
  <dcterms:modified xsi:type="dcterms:W3CDTF">2026-01-19T14:48:36Z</dcterms:modified>
</cp:coreProperties>
</file>
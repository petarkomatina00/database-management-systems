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2" r:id="rId17"/>
    <p:sldId id="273" r:id="rId18"/>
    <p:sldId id="274" r:id="rId19"/>
    <p:sldId id="275" r:id="rId20"/>
    <p:sldId id="276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541FF86-1094-B395-A7DD-0190D62B8C8B}" v="2063" dt="2026-01-19T15:18:36.759"/>
    <p1510:client id="{BC0B3D82-C35A-3D36-B5A7-067C4A546B68}" v="422" dt="2026-01-19T15:34:08.56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Оптимизација</a:t>
            </a:r>
            <a:r>
              <a:rPr lang="en-US" dirty="0"/>
              <a:t> </a:t>
            </a:r>
            <a:r>
              <a:rPr lang="en-US" dirty="0" err="1"/>
              <a:t>упита</a:t>
            </a:r>
            <a:r>
              <a:rPr lang="en-US" dirty="0"/>
              <a:t> </a:t>
            </a:r>
            <a:r>
              <a:rPr lang="en-US" dirty="0" err="1"/>
              <a:t>код</a:t>
            </a:r>
            <a:r>
              <a:rPr lang="en-US" dirty="0"/>
              <a:t> PostgreSQL </a:t>
            </a:r>
            <a:r>
              <a:rPr lang="en-US" dirty="0" err="1"/>
              <a:t>базе</a:t>
            </a:r>
            <a:r>
              <a:rPr lang="en-US" dirty="0"/>
              <a:t> </a:t>
            </a:r>
            <a:r>
              <a:rPr lang="en-US" dirty="0" err="1"/>
              <a:t>података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1933" y="4578083"/>
            <a:ext cx="3501776" cy="95369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 err="1"/>
              <a:t>Студент</a:t>
            </a:r>
            <a:r>
              <a:rPr lang="en-US" dirty="0"/>
              <a:t>:</a:t>
            </a:r>
          </a:p>
          <a:p>
            <a:r>
              <a:rPr lang="en-US" dirty="0" err="1"/>
              <a:t>Петар</a:t>
            </a:r>
            <a:r>
              <a:rPr lang="en-US" dirty="0"/>
              <a:t> </a:t>
            </a:r>
            <a:r>
              <a:rPr lang="en-US" dirty="0" err="1"/>
              <a:t>Коматина</a:t>
            </a:r>
            <a:r>
              <a:rPr lang="en-US" dirty="0"/>
              <a:t> 1932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0F67139-2242-6A96-1045-F23A5F27A1BF}"/>
              </a:ext>
            </a:extLst>
          </p:cNvPr>
          <p:cNvSpPr txBox="1"/>
          <p:nvPr/>
        </p:nvSpPr>
        <p:spPr>
          <a:xfrm>
            <a:off x="5344322" y="4574663"/>
            <a:ext cx="6642583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 err="1"/>
              <a:t>Професор</a:t>
            </a:r>
            <a:r>
              <a:rPr lang="en-US" sz="2400" dirty="0"/>
              <a:t>:</a:t>
            </a:r>
          </a:p>
          <a:p>
            <a:r>
              <a:rPr lang="en-US" sz="2400" err="1"/>
              <a:t>Проф</a:t>
            </a:r>
            <a:r>
              <a:rPr lang="en-US" sz="2400" dirty="0"/>
              <a:t>. </a:t>
            </a:r>
            <a:r>
              <a:rPr lang="en-US" sz="2400" err="1"/>
              <a:t>Др</a:t>
            </a:r>
            <a:r>
              <a:rPr lang="en-US" sz="2400" dirty="0"/>
              <a:t>. </a:t>
            </a:r>
            <a:r>
              <a:rPr lang="en-US" sz="2400" err="1"/>
              <a:t>Александар</a:t>
            </a:r>
            <a:r>
              <a:rPr lang="en-US" sz="2400" dirty="0"/>
              <a:t> </a:t>
            </a:r>
            <a:r>
              <a:rPr lang="en-US" sz="2400" err="1"/>
              <a:t>Станимировић</a:t>
            </a:r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8FF49EC-5678-443C-19AB-EA74EEFE7B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080"/>
            <a:ext cx="4818888" cy="1481328"/>
          </a:xfrm>
        </p:spPr>
        <p:txBody>
          <a:bodyPr anchor="b">
            <a:normAutofit/>
          </a:bodyPr>
          <a:lstStyle/>
          <a:p>
            <a:r>
              <a:rPr lang="en-US" sz="5400"/>
              <a:t>Увод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650D18FE-0824-4A46-B22C-A86B52E578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F036B9-3D87-2D4E-2FEC-48C3ED533A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660904"/>
            <a:ext cx="4818888" cy="354787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200"/>
              <a:t>Најбитније је посматрање ресурса који </a:t>
            </a:r>
            <a:r>
              <a:rPr lang="en-US" sz="2200" b="1"/>
              <a:t>директно </a:t>
            </a:r>
            <a:r>
              <a:rPr lang="en-US" sz="2200"/>
              <a:t>утичу на време извшења. </a:t>
            </a:r>
          </a:p>
          <a:p>
            <a:r>
              <a:rPr lang="en-US" sz="2200"/>
              <a:t>Након чега следе ресурси који </a:t>
            </a:r>
            <a:r>
              <a:rPr lang="en-US" sz="2200" b="1"/>
              <a:t>индиректно </a:t>
            </a:r>
            <a:r>
              <a:rPr lang="en-US" sz="2200"/>
              <a:t>утичу.</a:t>
            </a:r>
          </a:p>
          <a:p>
            <a:endParaRPr lang="en-US" sz="2200"/>
          </a:p>
        </p:txBody>
      </p:sp>
      <p:pic>
        <p:nvPicPr>
          <p:cNvPr id="4" name="Picture 3" descr="A diagram of a block diagram&#10;&#10;AI-generated content may be incorrect.">
            <a:extLst>
              <a:ext uri="{FF2B5EF4-FFF2-40B4-BE49-F238E27FC236}">
                <a16:creationId xmlns:a16="http://schemas.microsoft.com/office/drawing/2014/main" id="{C998340E-EE30-7D96-5CDE-66D4D1B516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5753" y="640080"/>
            <a:ext cx="5145557" cy="5577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04163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4FC1945-F68D-0BFD-0778-9521ED40C4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080"/>
            <a:ext cx="4818888" cy="1481328"/>
          </a:xfrm>
        </p:spPr>
        <p:txBody>
          <a:bodyPr anchor="b">
            <a:normAutofit/>
          </a:bodyPr>
          <a:lstStyle/>
          <a:p>
            <a:r>
              <a:rPr lang="en-US" sz="5400"/>
              <a:t>Full Scan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650D18FE-0824-4A46-B22C-A86B52E578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8EDAA6-9C35-BF84-4707-3EAC12B0D5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660904"/>
            <a:ext cx="4818888" cy="354787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200"/>
              <a:t>Чита све редове у табели и за сваки ред проверава да ли је задољоен услов. </a:t>
            </a:r>
          </a:p>
          <a:p>
            <a:r>
              <a:rPr lang="en-US" sz="2200"/>
              <a:t>Цена унутрашње петље је А, број улазно-излазних операције је B и количина редова која задољова услов је C.</a:t>
            </a:r>
          </a:p>
          <a:p>
            <a:r>
              <a:rPr lang="en-US" sz="2200"/>
              <a:t>Укупна цена алгоритма је: c1 * A + c2 * B + c3 * C</a:t>
            </a:r>
          </a:p>
        </p:txBody>
      </p:sp>
      <p:pic>
        <p:nvPicPr>
          <p:cNvPr id="4" name="Picture 3" descr="A white background with black text&#10;&#10;AI-generated content may be incorrect.">
            <a:extLst>
              <a:ext uri="{FF2B5EF4-FFF2-40B4-BE49-F238E27FC236}">
                <a16:creationId xmlns:a16="http://schemas.microsoft.com/office/drawing/2014/main" id="{281D9A91-5C22-80F9-785F-25726F6ED2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53285" y="2658623"/>
            <a:ext cx="6543849" cy="2651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74662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0B33058-1A8C-BE6B-5854-7CB1AC2C8C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080"/>
            <a:ext cx="4818888" cy="1481328"/>
          </a:xfrm>
        </p:spPr>
        <p:txBody>
          <a:bodyPr anchor="b">
            <a:normAutofit/>
          </a:bodyPr>
          <a:lstStyle/>
          <a:p>
            <a:r>
              <a:rPr lang="en-US" sz="5400"/>
              <a:t>Index-Based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650D18FE-0824-4A46-B22C-A86B52E578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A5B3D5-C083-4152-A07C-17FAAA1420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660904"/>
            <a:ext cx="4818888" cy="354787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200"/>
              <a:t>Читају се редови из индекса који задовољавају услов филтрирања и приступа блоковима редоследом дефинисаним индексом. </a:t>
            </a:r>
          </a:p>
          <a:p>
            <a:r>
              <a:rPr lang="en-US" sz="2200"/>
              <a:t>Више индексних структура може указати на вишеструко читање истог блока. Како би се ово избегло користи се </a:t>
            </a:r>
            <a:r>
              <a:rPr lang="en-US" sz="2200" i="1">
                <a:ea typeface="+mn-lt"/>
                <a:cs typeface="+mn-lt"/>
              </a:rPr>
              <a:t>„bitmap heap scan”</a:t>
            </a:r>
            <a:endParaRPr lang="en-US" sz="2200" i="1"/>
          </a:p>
        </p:txBody>
      </p:sp>
      <p:pic>
        <p:nvPicPr>
          <p:cNvPr id="4" name="Picture 3" descr="A diagram of a number and a number&#10;&#10;AI-generated content may be incorrect.">
            <a:extLst>
              <a:ext uri="{FF2B5EF4-FFF2-40B4-BE49-F238E27FC236}">
                <a16:creationId xmlns:a16="http://schemas.microsoft.com/office/drawing/2014/main" id="{2EDFE0FC-97DE-BB31-095C-BE66F1405D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9048" y="1811781"/>
            <a:ext cx="5458968" cy="3234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99848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0F2A657-6C54-1424-F9D4-BACAAAF4A0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anchor="b">
            <a:normAutofit/>
          </a:bodyPr>
          <a:lstStyle/>
          <a:p>
            <a:r>
              <a:rPr lang="en-US" sz="5400"/>
              <a:t>Поређење алгоритма</a:t>
            </a:r>
          </a:p>
        </p:txBody>
      </p:sp>
      <p:sp>
        <p:nvSpPr>
          <p:cNvPr id="13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4FD2230F-5921-259A-E93B-B1A4DFCD4F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807208"/>
            <a:ext cx="3429000" cy="3410712"/>
          </a:xfrm>
        </p:spPr>
        <p:txBody>
          <a:bodyPr anchor="t">
            <a:normAutofit/>
          </a:bodyPr>
          <a:lstStyle/>
          <a:p>
            <a:r>
              <a:rPr lang="en-US" sz="2200" dirty="0" err="1"/>
              <a:t>За</a:t>
            </a:r>
            <a:r>
              <a:rPr lang="en-US" sz="2200" dirty="0"/>
              <a:t> </a:t>
            </a:r>
            <a:r>
              <a:rPr lang="en-US" sz="2200" dirty="0" err="1"/>
              <a:t>мале</a:t>
            </a:r>
            <a:r>
              <a:rPr lang="en-US" sz="2200" dirty="0"/>
              <a:t> </a:t>
            </a:r>
            <a:r>
              <a:rPr lang="en-US" sz="2200" dirty="0" err="1"/>
              <a:t>вредности</a:t>
            </a:r>
            <a:r>
              <a:rPr lang="en-US" sz="2200" dirty="0"/>
              <a:t> </a:t>
            </a:r>
            <a:r>
              <a:rPr lang="en-US" sz="2200" dirty="0" err="1"/>
              <a:t>селективности</a:t>
            </a:r>
            <a:r>
              <a:rPr lang="en-US" sz="2200" dirty="0"/>
              <a:t> </a:t>
            </a:r>
            <a:r>
              <a:rPr lang="en-US" sz="2200" dirty="0" err="1"/>
              <a:t>цена</a:t>
            </a:r>
            <a:r>
              <a:rPr lang="en-US" sz="2200" dirty="0"/>
              <a:t> </a:t>
            </a:r>
            <a:r>
              <a:rPr lang="en-US" sz="2200" dirty="0" err="1"/>
              <a:t>је</a:t>
            </a:r>
            <a:r>
              <a:rPr lang="en-US" sz="2200" dirty="0"/>
              <a:t> </a:t>
            </a:r>
            <a:r>
              <a:rPr lang="en-US" sz="2200" dirty="0" err="1"/>
              <a:t>пророрционално</a:t>
            </a:r>
            <a:r>
              <a:rPr lang="en-US" sz="2200" dirty="0"/>
              <a:t> </a:t>
            </a:r>
            <a:r>
              <a:rPr lang="en-US" sz="2200" dirty="0" err="1"/>
              <a:t>једнака</a:t>
            </a:r>
            <a:r>
              <a:rPr lang="en-US" sz="2200" dirty="0"/>
              <a:t> </a:t>
            </a:r>
            <a:r>
              <a:rPr lang="en-US" sz="2200" dirty="0" err="1"/>
              <a:t>броју</a:t>
            </a:r>
            <a:r>
              <a:rPr lang="en-US" sz="2200" dirty="0"/>
              <a:t> </a:t>
            </a:r>
            <a:r>
              <a:rPr lang="en-US" sz="2200" dirty="0" err="1"/>
              <a:t>враћених</a:t>
            </a:r>
            <a:r>
              <a:rPr lang="en-US" sz="2200" dirty="0"/>
              <a:t> </a:t>
            </a:r>
            <a:r>
              <a:rPr lang="en-US" sz="2200" dirty="0" err="1"/>
              <a:t>редова</a:t>
            </a:r>
            <a:r>
              <a:rPr lang="en-US" sz="2200" dirty="0"/>
              <a:t> </a:t>
            </a:r>
            <a:r>
              <a:rPr lang="en-US" sz="2200" dirty="0" err="1"/>
              <a:t>док</a:t>
            </a:r>
            <a:r>
              <a:rPr lang="en-US" sz="2200" dirty="0"/>
              <a:t> </a:t>
            </a:r>
            <a:r>
              <a:rPr lang="en-US" sz="2200" dirty="0" err="1"/>
              <a:t>за</a:t>
            </a:r>
            <a:r>
              <a:rPr lang="en-US" sz="2200" dirty="0"/>
              <a:t> </a:t>
            </a:r>
            <a:r>
              <a:rPr lang="en-US" sz="2200" dirty="0" err="1"/>
              <a:t>веће</a:t>
            </a:r>
            <a:r>
              <a:rPr lang="en-US" sz="2200" dirty="0"/>
              <a:t> </a:t>
            </a:r>
            <a:r>
              <a:rPr lang="en-US" sz="2200" dirty="0" err="1"/>
              <a:t>вредности</a:t>
            </a:r>
            <a:r>
              <a:rPr lang="en-US" sz="2200" dirty="0"/>
              <a:t> </a:t>
            </a:r>
            <a:r>
              <a:rPr lang="en-US" sz="2200" dirty="0" err="1"/>
              <a:t>селективности</a:t>
            </a:r>
            <a:r>
              <a:rPr lang="en-US" sz="2200" dirty="0"/>
              <a:t> </a:t>
            </a:r>
            <a:r>
              <a:rPr lang="en-US" sz="2200" dirty="0" err="1"/>
              <a:t>је</a:t>
            </a:r>
            <a:r>
              <a:rPr lang="en-US" sz="2200" dirty="0"/>
              <a:t> </a:t>
            </a:r>
            <a:r>
              <a:rPr lang="en-US" sz="2200" dirty="0" err="1"/>
              <a:t>приближно</a:t>
            </a:r>
            <a:r>
              <a:rPr lang="en-US" sz="2200" dirty="0"/>
              <a:t> </a:t>
            </a:r>
            <a:r>
              <a:rPr lang="en-US" sz="2200" dirty="0" err="1"/>
              <a:t>једнака</a:t>
            </a:r>
            <a:r>
              <a:rPr lang="en-US" sz="2200" dirty="0"/>
              <a:t> Full-Scan-u</a:t>
            </a:r>
          </a:p>
        </p:txBody>
      </p:sp>
      <p:pic>
        <p:nvPicPr>
          <p:cNvPr id="4" name="Content Placeholder 3" descr="A graph of cost and selectivity&#10;&#10;AI-generated content may be incorrect.">
            <a:extLst>
              <a:ext uri="{FF2B5EF4-FFF2-40B4-BE49-F238E27FC236}">
                <a16:creationId xmlns:a16="http://schemas.microsoft.com/office/drawing/2014/main" id="{C4CD0671-B2F2-E68E-E427-19813B90AA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5073" y="640080"/>
            <a:ext cx="6562165" cy="5577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37399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32AEEBC8-9D30-42EF-95F2-386C2653FB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3780078-A1B6-F342-2EA5-46E43DD039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502920"/>
            <a:ext cx="3419856" cy="146304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8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Структура индекса</a:t>
            </a:r>
          </a:p>
        </p:txBody>
      </p:sp>
      <p:sp>
        <p:nvSpPr>
          <p:cNvPr id="24" name="sketch line">
            <a:extLst>
              <a:ext uri="{FF2B5EF4-FFF2-40B4-BE49-F238E27FC236}">
                <a16:creationId xmlns:a16="http://schemas.microsoft.com/office/drawing/2014/main" id="{2E92FA66-67D7-4CB4-94D3-E643A9AD4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566159" y="1225296"/>
            <a:ext cx="1554480" cy="18288"/>
          </a:xfrm>
          <a:custGeom>
            <a:avLst/>
            <a:gdLst>
              <a:gd name="csX0" fmla="*/ 0 w 1554480"/>
              <a:gd name="csY0" fmla="*/ 0 h 18288"/>
              <a:gd name="csX1" fmla="*/ 549250 w 1554480"/>
              <a:gd name="csY1" fmla="*/ 0 h 18288"/>
              <a:gd name="csX2" fmla="*/ 1082954 w 1554480"/>
              <a:gd name="csY2" fmla="*/ 0 h 18288"/>
              <a:gd name="csX3" fmla="*/ 1554480 w 1554480"/>
              <a:gd name="csY3" fmla="*/ 0 h 18288"/>
              <a:gd name="csX4" fmla="*/ 1554480 w 1554480"/>
              <a:gd name="csY4" fmla="*/ 18288 h 18288"/>
              <a:gd name="csX5" fmla="*/ 1067410 w 1554480"/>
              <a:gd name="csY5" fmla="*/ 18288 h 18288"/>
              <a:gd name="csX6" fmla="*/ 549250 w 1554480"/>
              <a:gd name="csY6" fmla="*/ 18288 h 18288"/>
              <a:gd name="csX7" fmla="*/ 0 w 1554480"/>
              <a:gd name="csY7" fmla="*/ 18288 h 18288"/>
              <a:gd name="csX8" fmla="*/ 0 w 1554480"/>
              <a:gd name="csY8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554480" h="18288" fill="none" extrusionOk="0">
                <a:moveTo>
                  <a:pt x="0" y="0"/>
                </a:moveTo>
                <a:cubicBezTo>
                  <a:pt x="114141" y="-19864"/>
                  <a:pt x="345055" y="-1657"/>
                  <a:pt x="549250" y="0"/>
                </a:cubicBezTo>
                <a:cubicBezTo>
                  <a:pt x="753445" y="1657"/>
                  <a:pt x="862292" y="-5674"/>
                  <a:pt x="1082954" y="0"/>
                </a:cubicBezTo>
                <a:cubicBezTo>
                  <a:pt x="1303616" y="5674"/>
                  <a:pt x="1363530" y="4537"/>
                  <a:pt x="1554480" y="0"/>
                </a:cubicBezTo>
                <a:cubicBezTo>
                  <a:pt x="1554963" y="7176"/>
                  <a:pt x="1553909" y="13682"/>
                  <a:pt x="1554480" y="18288"/>
                </a:cubicBezTo>
                <a:cubicBezTo>
                  <a:pt x="1338847" y="6127"/>
                  <a:pt x="1215066" y="37851"/>
                  <a:pt x="1067410" y="18288"/>
                </a:cubicBezTo>
                <a:cubicBezTo>
                  <a:pt x="919754" y="-1275"/>
                  <a:pt x="800465" y="3080"/>
                  <a:pt x="549250" y="18288"/>
                </a:cubicBezTo>
                <a:cubicBezTo>
                  <a:pt x="298035" y="33496"/>
                  <a:pt x="158868" y="22769"/>
                  <a:pt x="0" y="18288"/>
                </a:cubicBezTo>
                <a:cubicBezTo>
                  <a:pt x="-655" y="13237"/>
                  <a:pt x="709" y="4645"/>
                  <a:pt x="0" y="0"/>
                </a:cubicBezTo>
                <a:close/>
              </a:path>
              <a:path w="1554480" h="18288" stroke="0" extrusionOk="0">
                <a:moveTo>
                  <a:pt x="0" y="0"/>
                </a:moveTo>
                <a:cubicBezTo>
                  <a:pt x="249941" y="-58"/>
                  <a:pt x="367334" y="23448"/>
                  <a:pt x="502615" y="0"/>
                </a:cubicBezTo>
                <a:cubicBezTo>
                  <a:pt x="637897" y="-23448"/>
                  <a:pt x="813653" y="-20418"/>
                  <a:pt x="974141" y="0"/>
                </a:cubicBezTo>
                <a:cubicBezTo>
                  <a:pt x="1134629" y="20418"/>
                  <a:pt x="1268772" y="6288"/>
                  <a:pt x="1554480" y="0"/>
                </a:cubicBezTo>
                <a:cubicBezTo>
                  <a:pt x="1554917" y="7222"/>
                  <a:pt x="1555359" y="13299"/>
                  <a:pt x="1554480" y="18288"/>
                </a:cubicBezTo>
                <a:cubicBezTo>
                  <a:pt x="1336087" y="12172"/>
                  <a:pt x="1310024" y="19759"/>
                  <a:pt x="1067410" y="18288"/>
                </a:cubicBezTo>
                <a:cubicBezTo>
                  <a:pt x="824796" y="16818"/>
                  <a:pt x="787902" y="34647"/>
                  <a:pt x="518160" y="18288"/>
                </a:cubicBezTo>
                <a:cubicBezTo>
                  <a:pt x="248418" y="1930"/>
                  <a:pt x="133160" y="9205"/>
                  <a:pt x="0" y="18288"/>
                </a:cubicBezTo>
                <a:cubicBezTo>
                  <a:pt x="-643" y="9451"/>
                  <a:pt x="-340" y="711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D4C736B-DC7C-0CB3-94CE-D033C4415720}"/>
              </a:ext>
            </a:extLst>
          </p:cNvPr>
          <p:cNvSpPr txBox="1"/>
          <p:nvPr/>
        </p:nvSpPr>
        <p:spPr>
          <a:xfrm>
            <a:off x="4654295" y="502920"/>
            <a:ext cx="6894576" cy="1463040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/>
              <a:t>Сувишна структура података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/>
              <a:t>Није директно видљива 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 err="1"/>
              <a:t>Испуњава</a:t>
            </a:r>
            <a:r>
              <a:rPr lang="en-US" sz="2200" dirty="0"/>
              <a:t> </a:t>
            </a:r>
            <a:r>
              <a:rPr lang="en-US" sz="2200" dirty="0" err="1"/>
              <a:t>сврху</a:t>
            </a:r>
            <a:r>
              <a:rPr lang="en-US" sz="2200" dirty="0"/>
              <a:t> </a:t>
            </a:r>
            <a:r>
              <a:rPr lang="en-US" sz="2200" dirty="0" err="1"/>
              <a:t>селекције</a:t>
            </a:r>
            <a:r>
              <a:rPr lang="en-US" sz="2200" dirty="0"/>
              <a:t> </a:t>
            </a:r>
            <a:r>
              <a:rPr lang="en-US" sz="2200" dirty="0" err="1"/>
              <a:t>података</a:t>
            </a:r>
            <a:r>
              <a:rPr lang="en-US" sz="2200" dirty="0"/>
              <a:t> у </a:t>
            </a:r>
            <a:r>
              <a:rPr lang="en-US" sz="2200" dirty="0" err="1"/>
              <a:t>односу</a:t>
            </a:r>
            <a:r>
              <a:rPr lang="en-US" sz="2200" dirty="0"/>
              <a:t> </a:t>
            </a:r>
            <a:r>
              <a:rPr lang="en-US" sz="2200" dirty="0" err="1"/>
              <a:t>на</a:t>
            </a:r>
            <a:r>
              <a:rPr lang="en-US" sz="2200" dirty="0"/>
              <a:t> </a:t>
            </a:r>
            <a:r>
              <a:rPr lang="en-US" sz="2200" dirty="0" err="1"/>
              <a:t>неки</a:t>
            </a:r>
            <a:r>
              <a:rPr lang="en-US" sz="2200" dirty="0"/>
              <a:t> </a:t>
            </a:r>
            <a:r>
              <a:rPr lang="en-US" sz="2200" dirty="0" err="1"/>
              <a:t>услов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2824E9AC-BE13-B1F9-4D21-5B0A2041D6C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30936" y="3165171"/>
            <a:ext cx="10917936" cy="22108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67375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439F103-505C-23DF-C322-B4D7D4EB42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anchor="b">
            <a:normAutofit/>
          </a:bodyPr>
          <a:lstStyle/>
          <a:p>
            <a:r>
              <a:rPr lang="en-US" sz="4200"/>
              <a:t>Анализа B-Tree структуре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2B1704-B238-BF70-1F83-2119D54CEA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807208"/>
            <a:ext cx="3429000" cy="341071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200" dirty="0" err="1"/>
              <a:t>Предности</a:t>
            </a:r>
            <a:r>
              <a:rPr lang="en-US" sz="2200" dirty="0"/>
              <a:t> </a:t>
            </a:r>
            <a:r>
              <a:rPr lang="en-US" sz="2200" dirty="0" err="1"/>
              <a:t>су</a:t>
            </a:r>
            <a:r>
              <a:rPr lang="en-US" sz="2200" dirty="0"/>
              <a:t> </a:t>
            </a:r>
            <a:r>
              <a:rPr lang="en-US" sz="2200" dirty="0" err="1"/>
              <a:t>брзина</a:t>
            </a:r>
            <a:r>
              <a:rPr lang="en-US" sz="2200" dirty="0"/>
              <a:t> </a:t>
            </a:r>
            <a:r>
              <a:rPr lang="en-US" sz="2200" dirty="0" err="1"/>
              <a:t>претраге</a:t>
            </a:r>
            <a:r>
              <a:rPr lang="en-US" sz="2200" dirty="0"/>
              <a:t> и </a:t>
            </a:r>
            <a:r>
              <a:rPr lang="en-US" sz="2200" dirty="0" err="1"/>
              <a:t>унос</a:t>
            </a:r>
            <a:r>
              <a:rPr lang="en-US" sz="2200" dirty="0"/>
              <a:t> </a:t>
            </a:r>
            <a:r>
              <a:rPr lang="en-US" sz="2200" dirty="0" err="1"/>
              <a:t>нових</a:t>
            </a:r>
            <a:r>
              <a:rPr lang="en-US" sz="2200" dirty="0"/>
              <a:t> </a:t>
            </a:r>
            <a:r>
              <a:rPr lang="en-US" sz="2200" dirty="0" err="1"/>
              <a:t>података</a:t>
            </a:r>
            <a:r>
              <a:rPr lang="en-US" sz="2200" dirty="0"/>
              <a:t> у </a:t>
            </a:r>
            <a:r>
              <a:rPr lang="en-US" sz="2200" dirty="0" err="1"/>
              <a:t>блокове</a:t>
            </a:r>
            <a:r>
              <a:rPr lang="en-US" sz="2200" dirty="0"/>
              <a:t>. </a:t>
            </a:r>
          </a:p>
        </p:txBody>
      </p:sp>
      <p:pic>
        <p:nvPicPr>
          <p:cNvPr id="4" name="Picture 3" descr="A diagram of a diagram&#10;&#10;AI-generated content may be incorrect.">
            <a:extLst>
              <a:ext uri="{FF2B5EF4-FFF2-40B4-BE49-F238E27FC236}">
                <a16:creationId xmlns:a16="http://schemas.microsoft.com/office/drawing/2014/main" id="{3ABBE43C-639F-F872-22F0-2CA778611C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4296" y="1185291"/>
            <a:ext cx="6903720" cy="4487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92528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937B9C-128F-96EC-AD43-D1272FD50B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Помоћне структуре - Битмапа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C73343-0F72-55A2-C902-64DE390E92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err="1"/>
              <a:t>Помоћна</a:t>
            </a:r>
            <a:r>
              <a:rPr lang="en-US" dirty="0"/>
              <a:t> </a:t>
            </a:r>
            <a:r>
              <a:rPr lang="en-US" dirty="0" err="1"/>
              <a:t>структура</a:t>
            </a:r>
            <a:r>
              <a:rPr lang="en-US" dirty="0"/>
              <a:t> </a:t>
            </a:r>
            <a:r>
              <a:rPr lang="en-US" dirty="0" err="1"/>
              <a:t>која</a:t>
            </a:r>
            <a:r>
              <a:rPr lang="en-US" dirty="0"/>
              <a:t> </a:t>
            </a:r>
            <a:r>
              <a:rPr lang="en-US" dirty="0" err="1"/>
              <a:t>се</a:t>
            </a:r>
            <a:r>
              <a:rPr lang="en-US" dirty="0"/>
              <a:t> </a:t>
            </a:r>
            <a:r>
              <a:rPr lang="en-US" dirty="0" err="1"/>
              <a:t>може</a:t>
            </a:r>
            <a:r>
              <a:rPr lang="en-US" dirty="0"/>
              <a:t> </a:t>
            </a:r>
            <a:r>
              <a:rPr lang="en-US" dirty="0" err="1"/>
              <a:t>сматрати</a:t>
            </a:r>
            <a:r>
              <a:rPr lang="en-US" dirty="0"/>
              <a:t> </a:t>
            </a:r>
            <a:r>
              <a:rPr lang="en-US" dirty="0" err="1"/>
              <a:t>врстом</a:t>
            </a:r>
            <a:r>
              <a:rPr lang="en-US" dirty="0"/>
              <a:t> </a:t>
            </a:r>
            <a:r>
              <a:rPr lang="en-US" dirty="0" err="1"/>
              <a:t>индекса</a:t>
            </a:r>
            <a:r>
              <a:rPr lang="en-US" dirty="0"/>
              <a:t>. </a:t>
            </a:r>
          </a:p>
          <a:p>
            <a:r>
              <a:rPr lang="en-US" dirty="0" err="1"/>
              <a:t>Садржи</a:t>
            </a:r>
            <a:r>
              <a:rPr lang="en-US" dirty="0"/>
              <a:t> </a:t>
            </a:r>
            <a:r>
              <a:rPr lang="en-US" dirty="0" err="1"/>
              <a:t>један</a:t>
            </a:r>
            <a:r>
              <a:rPr lang="en-US" dirty="0"/>
              <a:t> </a:t>
            </a:r>
            <a:r>
              <a:rPr lang="en-US" dirty="0" err="1"/>
              <a:t>бит</a:t>
            </a:r>
            <a:r>
              <a:rPr lang="en-US" dirty="0"/>
              <a:t> </a:t>
            </a:r>
            <a:r>
              <a:rPr lang="en-US" dirty="0" err="1"/>
              <a:t>по</a:t>
            </a:r>
            <a:r>
              <a:rPr lang="en-US" dirty="0"/>
              <a:t> </a:t>
            </a:r>
            <a:r>
              <a:rPr lang="en-US" dirty="0" err="1"/>
              <a:t>блоку</a:t>
            </a:r>
            <a:r>
              <a:rPr lang="en-US" dirty="0"/>
              <a:t> </a:t>
            </a:r>
            <a:r>
              <a:rPr lang="en-US" dirty="0" err="1"/>
              <a:t>табеле</a:t>
            </a:r>
            <a:r>
              <a:rPr lang="en-US" dirty="0"/>
              <a:t>, </a:t>
            </a:r>
            <a:r>
              <a:rPr lang="en-US" dirty="0" err="1"/>
              <a:t>где</a:t>
            </a:r>
            <a:r>
              <a:rPr lang="en-US" dirty="0"/>
              <a:t> </a:t>
            </a:r>
            <a:r>
              <a:rPr lang="en-US" dirty="0" err="1"/>
              <a:t>јединица</a:t>
            </a:r>
            <a:r>
              <a:rPr lang="en-US" dirty="0"/>
              <a:t> </a:t>
            </a:r>
            <a:r>
              <a:rPr lang="en-US" dirty="0" err="1"/>
              <a:t>означава</a:t>
            </a:r>
            <a:r>
              <a:rPr lang="en-US" dirty="0"/>
              <a:t> </a:t>
            </a:r>
            <a:r>
              <a:rPr lang="en-US" dirty="0" err="1"/>
              <a:t>да</a:t>
            </a:r>
            <a:r>
              <a:rPr lang="en-US" dirty="0"/>
              <a:t> </a:t>
            </a:r>
            <a:r>
              <a:rPr lang="en-US" dirty="0" err="1"/>
              <a:t>блок</a:t>
            </a:r>
            <a:r>
              <a:rPr lang="en-US" dirty="0"/>
              <a:t> </a:t>
            </a:r>
            <a:r>
              <a:rPr lang="en-US" dirty="0" err="1"/>
              <a:t>садржи</a:t>
            </a:r>
            <a:r>
              <a:rPr lang="en-US" dirty="0"/>
              <a:t> </a:t>
            </a:r>
            <a:r>
              <a:rPr lang="en-US" dirty="0" err="1"/>
              <a:t>редове</a:t>
            </a:r>
            <a:r>
              <a:rPr lang="en-US" dirty="0"/>
              <a:t> </a:t>
            </a:r>
            <a:r>
              <a:rPr lang="en-US" dirty="0" err="1"/>
              <a:t>које</a:t>
            </a:r>
            <a:r>
              <a:rPr lang="en-US" dirty="0"/>
              <a:t> </a:t>
            </a:r>
            <a:r>
              <a:rPr lang="en-US" dirty="0" err="1"/>
              <a:t>задовољавају</a:t>
            </a:r>
            <a:r>
              <a:rPr lang="en-US" dirty="0"/>
              <a:t> </a:t>
            </a:r>
            <a:r>
              <a:rPr lang="en-US" dirty="0" err="1"/>
              <a:t>услов</a:t>
            </a:r>
            <a:r>
              <a:rPr lang="en-US" dirty="0"/>
              <a:t>.</a:t>
            </a:r>
          </a:p>
          <a:p>
            <a:r>
              <a:rPr lang="en-US" dirty="0"/>
              <a:t>У </a:t>
            </a:r>
            <a:r>
              <a:rPr lang="en-US" dirty="0" err="1"/>
              <a:t>случају</a:t>
            </a:r>
            <a:r>
              <a:rPr lang="en-US" dirty="0"/>
              <a:t> </a:t>
            </a:r>
            <a:r>
              <a:rPr lang="en-US" dirty="0" err="1"/>
              <a:t>да</a:t>
            </a:r>
            <a:r>
              <a:rPr lang="en-US" dirty="0"/>
              <a:t> </a:t>
            </a:r>
            <a:r>
              <a:rPr lang="en-US" dirty="0" err="1"/>
              <a:t>постоје</a:t>
            </a:r>
            <a:r>
              <a:rPr lang="en-US" dirty="0"/>
              <a:t> </a:t>
            </a:r>
            <a:r>
              <a:rPr lang="en-US" dirty="0" err="1"/>
              <a:t>више</a:t>
            </a:r>
            <a:r>
              <a:rPr lang="en-US" dirty="0"/>
              <a:t> </a:t>
            </a:r>
            <a:r>
              <a:rPr lang="en-US" dirty="0" err="1"/>
              <a:t>услова</a:t>
            </a:r>
            <a:r>
              <a:rPr lang="en-US" dirty="0"/>
              <a:t>, </a:t>
            </a:r>
            <a:r>
              <a:rPr lang="en-US" dirty="0" err="1"/>
              <a:t>за</a:t>
            </a:r>
            <a:r>
              <a:rPr lang="en-US" dirty="0"/>
              <a:t> </a:t>
            </a:r>
            <a:r>
              <a:rPr lang="en-US" dirty="0" err="1"/>
              <a:t>сваки</a:t>
            </a:r>
            <a:r>
              <a:rPr lang="en-US" dirty="0"/>
              <a:t> </a:t>
            </a:r>
            <a:r>
              <a:rPr lang="en-US" dirty="0" err="1"/>
              <a:t>услов</a:t>
            </a:r>
            <a:r>
              <a:rPr lang="en-US" dirty="0"/>
              <a:t> </a:t>
            </a:r>
            <a:r>
              <a:rPr lang="en-US" dirty="0" err="1"/>
              <a:t>се</a:t>
            </a:r>
            <a:r>
              <a:rPr lang="en-US" dirty="0"/>
              <a:t> </a:t>
            </a:r>
            <a:r>
              <a:rPr lang="en-US" dirty="0" err="1"/>
              <a:t>креира</a:t>
            </a:r>
            <a:r>
              <a:rPr lang="en-US" dirty="0"/>
              <a:t> </a:t>
            </a:r>
            <a:r>
              <a:rPr lang="en-US" dirty="0" err="1"/>
              <a:t>битмапа</a:t>
            </a:r>
            <a:r>
              <a:rPr lang="en-US" dirty="0"/>
              <a:t> и </a:t>
            </a:r>
            <a:r>
              <a:rPr lang="en-US" dirty="0" err="1"/>
              <a:t>врши</a:t>
            </a:r>
            <a:r>
              <a:rPr lang="en-US" dirty="0"/>
              <a:t> </a:t>
            </a:r>
            <a:r>
              <a:rPr lang="en-US" dirty="0" err="1"/>
              <a:t>се</a:t>
            </a:r>
            <a:r>
              <a:rPr lang="en-US" dirty="0"/>
              <a:t> </a:t>
            </a:r>
            <a:r>
              <a:rPr lang="en-US" dirty="0" err="1"/>
              <a:t>битовска</a:t>
            </a:r>
            <a:r>
              <a:rPr lang="en-US" dirty="0"/>
              <a:t> </a:t>
            </a:r>
            <a:r>
              <a:rPr lang="en-US" i="1" dirty="0">
                <a:ea typeface="+mn-lt"/>
                <a:cs typeface="+mn-lt"/>
              </a:rPr>
              <a:t>„AND” </a:t>
            </a:r>
            <a:r>
              <a:rPr lang="en-US" dirty="0" err="1">
                <a:ea typeface="+mn-lt"/>
                <a:cs typeface="+mn-lt"/>
              </a:rPr>
              <a:t>операција</a:t>
            </a:r>
            <a:r>
              <a:rPr lang="en-US" dirty="0">
                <a:ea typeface="+mn-lt"/>
                <a:cs typeface="+mn-lt"/>
              </a:rPr>
              <a:t>. </a:t>
            </a:r>
          </a:p>
          <a:p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крају</a:t>
            </a:r>
            <a:r>
              <a:rPr lang="en-US" dirty="0"/>
              <a:t> </a:t>
            </a:r>
            <a:r>
              <a:rPr lang="en-US" dirty="0" err="1"/>
              <a:t>се</a:t>
            </a:r>
            <a:r>
              <a:rPr lang="en-US" dirty="0"/>
              <a:t> </a:t>
            </a:r>
            <a:r>
              <a:rPr lang="en-US" dirty="0" err="1"/>
              <a:t>читају</a:t>
            </a:r>
            <a:r>
              <a:rPr lang="en-US" dirty="0"/>
              <a:t> </a:t>
            </a:r>
            <a:r>
              <a:rPr lang="en-US" dirty="0" err="1"/>
              <a:t>блокови</a:t>
            </a:r>
            <a:r>
              <a:rPr lang="en-US" dirty="0"/>
              <a:t> </a:t>
            </a:r>
            <a:r>
              <a:rPr lang="en-US" dirty="0" err="1"/>
              <a:t>који</a:t>
            </a:r>
            <a:r>
              <a:rPr lang="en-US" dirty="0"/>
              <a:t> </a:t>
            </a:r>
            <a:r>
              <a:rPr lang="en-US" dirty="0" err="1"/>
              <a:t>имају</a:t>
            </a:r>
            <a:r>
              <a:rPr lang="en-US" dirty="0"/>
              <a:t> </a:t>
            </a:r>
            <a:r>
              <a:rPr lang="en-US" dirty="0" err="1"/>
              <a:t>јединицу</a:t>
            </a:r>
            <a:r>
              <a:rPr lang="en-US" dirty="0"/>
              <a:t> у </a:t>
            </a:r>
            <a:r>
              <a:rPr lang="en-US" dirty="0" err="1"/>
              <a:t>резултујућој</a:t>
            </a:r>
            <a:r>
              <a:rPr lang="en-US" dirty="0"/>
              <a:t> </a:t>
            </a:r>
            <a:r>
              <a:rPr lang="en-US" dirty="0" err="1"/>
              <a:t>битмапи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711387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8908DB7-C3A6-4FCB-9820-CEE02B398C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5942B95-2708-5DFC-CDB2-6DFA0F2A5E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823"/>
            <a:ext cx="3419856" cy="5583148"/>
          </a:xfrm>
        </p:spPr>
        <p:txBody>
          <a:bodyPr anchor="ctr">
            <a:normAutofit/>
          </a:bodyPr>
          <a:lstStyle/>
          <a:p>
            <a:r>
              <a:rPr lang="en-US" sz="5400"/>
              <a:t>Алгоритми за спајање табела 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535742DD-1B16-4E9D-B715-0D74B4574A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267200" y="630936"/>
            <a:ext cx="18288" cy="5590381"/>
          </a:xfrm>
          <a:custGeom>
            <a:avLst/>
            <a:gdLst>
              <a:gd name="csX0" fmla="*/ 0 w 18288"/>
              <a:gd name="csY0" fmla="*/ 0 h 5590381"/>
              <a:gd name="csX1" fmla="*/ 18288 w 18288"/>
              <a:gd name="csY1" fmla="*/ 0 h 5590381"/>
              <a:gd name="csX2" fmla="*/ 18288 w 18288"/>
              <a:gd name="csY2" fmla="*/ 754701 h 5590381"/>
              <a:gd name="csX3" fmla="*/ 18288 w 18288"/>
              <a:gd name="csY3" fmla="*/ 1565307 h 5590381"/>
              <a:gd name="csX4" fmla="*/ 18288 w 18288"/>
              <a:gd name="csY4" fmla="*/ 2152297 h 5590381"/>
              <a:gd name="csX5" fmla="*/ 18288 w 18288"/>
              <a:gd name="csY5" fmla="*/ 2906998 h 5590381"/>
              <a:gd name="csX6" fmla="*/ 18288 w 18288"/>
              <a:gd name="csY6" fmla="*/ 3549892 h 5590381"/>
              <a:gd name="csX7" fmla="*/ 18288 w 18288"/>
              <a:gd name="csY7" fmla="*/ 4080978 h 5590381"/>
              <a:gd name="csX8" fmla="*/ 18288 w 18288"/>
              <a:gd name="csY8" fmla="*/ 4835680 h 5590381"/>
              <a:gd name="csX9" fmla="*/ 18288 w 18288"/>
              <a:gd name="csY9" fmla="*/ 5590381 h 5590381"/>
              <a:gd name="csX10" fmla="*/ 0 w 18288"/>
              <a:gd name="csY10" fmla="*/ 5590381 h 5590381"/>
              <a:gd name="csX11" fmla="*/ 0 w 18288"/>
              <a:gd name="csY11" fmla="*/ 4835680 h 5590381"/>
              <a:gd name="csX12" fmla="*/ 0 w 18288"/>
              <a:gd name="csY12" fmla="*/ 4304593 h 5590381"/>
              <a:gd name="csX13" fmla="*/ 0 w 18288"/>
              <a:gd name="csY13" fmla="*/ 3773507 h 5590381"/>
              <a:gd name="csX14" fmla="*/ 0 w 18288"/>
              <a:gd name="csY14" fmla="*/ 3186517 h 5590381"/>
              <a:gd name="csX15" fmla="*/ 0 w 18288"/>
              <a:gd name="csY15" fmla="*/ 2487720 h 5590381"/>
              <a:gd name="csX16" fmla="*/ 0 w 18288"/>
              <a:gd name="csY16" fmla="*/ 1956633 h 5590381"/>
              <a:gd name="csX17" fmla="*/ 0 w 18288"/>
              <a:gd name="csY17" fmla="*/ 1425547 h 5590381"/>
              <a:gd name="csX18" fmla="*/ 0 w 18288"/>
              <a:gd name="csY18" fmla="*/ 614942 h 5590381"/>
              <a:gd name="csX19" fmla="*/ 0 w 18288"/>
              <a:gd name="csY19" fmla="*/ 0 h 559038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</a:cxnLst>
            <a:rect l="l" t="t" r="r" b="b"/>
            <a:pathLst>
              <a:path w="18288" h="5590381" fill="none" extrusionOk="0">
                <a:moveTo>
                  <a:pt x="0" y="0"/>
                </a:moveTo>
                <a:cubicBezTo>
                  <a:pt x="7726" y="-435"/>
                  <a:pt x="14198" y="437"/>
                  <a:pt x="18288" y="0"/>
                </a:cubicBezTo>
                <a:cubicBezTo>
                  <a:pt x="-5226" y="225076"/>
                  <a:pt x="46275" y="562283"/>
                  <a:pt x="18288" y="754701"/>
                </a:cubicBezTo>
                <a:cubicBezTo>
                  <a:pt x="-9699" y="947119"/>
                  <a:pt x="30081" y="1239251"/>
                  <a:pt x="18288" y="1565307"/>
                </a:cubicBezTo>
                <a:cubicBezTo>
                  <a:pt x="6495" y="1891363"/>
                  <a:pt x="7160" y="1999140"/>
                  <a:pt x="18288" y="2152297"/>
                </a:cubicBezTo>
                <a:cubicBezTo>
                  <a:pt x="29417" y="2305454"/>
                  <a:pt x="28705" y="2598333"/>
                  <a:pt x="18288" y="2906998"/>
                </a:cubicBezTo>
                <a:cubicBezTo>
                  <a:pt x="7871" y="3215663"/>
                  <a:pt x="35263" y="3327412"/>
                  <a:pt x="18288" y="3549892"/>
                </a:cubicBezTo>
                <a:cubicBezTo>
                  <a:pt x="1313" y="3772372"/>
                  <a:pt x="38561" y="3843836"/>
                  <a:pt x="18288" y="4080978"/>
                </a:cubicBezTo>
                <a:cubicBezTo>
                  <a:pt x="-1985" y="4318120"/>
                  <a:pt x="-3806" y="4511166"/>
                  <a:pt x="18288" y="4835680"/>
                </a:cubicBezTo>
                <a:cubicBezTo>
                  <a:pt x="40382" y="5160194"/>
                  <a:pt x="-13070" y="5401748"/>
                  <a:pt x="18288" y="5590381"/>
                </a:cubicBezTo>
                <a:cubicBezTo>
                  <a:pt x="12010" y="5589863"/>
                  <a:pt x="6799" y="5589982"/>
                  <a:pt x="0" y="5590381"/>
                </a:cubicBezTo>
                <a:cubicBezTo>
                  <a:pt x="-6480" y="5250523"/>
                  <a:pt x="-32148" y="5052531"/>
                  <a:pt x="0" y="4835680"/>
                </a:cubicBezTo>
                <a:cubicBezTo>
                  <a:pt x="32148" y="4618829"/>
                  <a:pt x="5352" y="4496374"/>
                  <a:pt x="0" y="4304593"/>
                </a:cubicBezTo>
                <a:cubicBezTo>
                  <a:pt x="-5352" y="4112812"/>
                  <a:pt x="9645" y="3919423"/>
                  <a:pt x="0" y="3773507"/>
                </a:cubicBezTo>
                <a:cubicBezTo>
                  <a:pt x="-9645" y="3627591"/>
                  <a:pt x="-10654" y="3330687"/>
                  <a:pt x="0" y="3186517"/>
                </a:cubicBezTo>
                <a:cubicBezTo>
                  <a:pt x="10654" y="3042347"/>
                  <a:pt x="18181" y="2635923"/>
                  <a:pt x="0" y="2487720"/>
                </a:cubicBezTo>
                <a:cubicBezTo>
                  <a:pt x="-18181" y="2339517"/>
                  <a:pt x="-7947" y="2113537"/>
                  <a:pt x="0" y="1956633"/>
                </a:cubicBezTo>
                <a:cubicBezTo>
                  <a:pt x="7947" y="1799729"/>
                  <a:pt x="-15145" y="1657735"/>
                  <a:pt x="0" y="1425547"/>
                </a:cubicBezTo>
                <a:cubicBezTo>
                  <a:pt x="15145" y="1193359"/>
                  <a:pt x="-23832" y="948054"/>
                  <a:pt x="0" y="614942"/>
                </a:cubicBezTo>
                <a:cubicBezTo>
                  <a:pt x="23832" y="281831"/>
                  <a:pt x="2816" y="129878"/>
                  <a:pt x="0" y="0"/>
                </a:cubicBezTo>
                <a:close/>
              </a:path>
              <a:path w="18288" h="5590381" stroke="0" extrusionOk="0">
                <a:moveTo>
                  <a:pt x="0" y="0"/>
                </a:moveTo>
                <a:cubicBezTo>
                  <a:pt x="5871" y="848"/>
                  <a:pt x="11713" y="-200"/>
                  <a:pt x="18288" y="0"/>
                </a:cubicBezTo>
                <a:cubicBezTo>
                  <a:pt x="41141" y="165299"/>
                  <a:pt x="3613" y="427555"/>
                  <a:pt x="18288" y="698798"/>
                </a:cubicBezTo>
                <a:cubicBezTo>
                  <a:pt x="32963" y="970041"/>
                  <a:pt x="19680" y="1226199"/>
                  <a:pt x="18288" y="1397595"/>
                </a:cubicBezTo>
                <a:cubicBezTo>
                  <a:pt x="16896" y="1568991"/>
                  <a:pt x="38798" y="1794517"/>
                  <a:pt x="18288" y="2152297"/>
                </a:cubicBezTo>
                <a:cubicBezTo>
                  <a:pt x="-2222" y="2510077"/>
                  <a:pt x="40846" y="2594424"/>
                  <a:pt x="18288" y="2739287"/>
                </a:cubicBezTo>
                <a:cubicBezTo>
                  <a:pt x="-4270" y="2884150"/>
                  <a:pt x="27117" y="3129706"/>
                  <a:pt x="18288" y="3493988"/>
                </a:cubicBezTo>
                <a:cubicBezTo>
                  <a:pt x="9459" y="3858270"/>
                  <a:pt x="54201" y="4041447"/>
                  <a:pt x="18288" y="4304593"/>
                </a:cubicBezTo>
                <a:cubicBezTo>
                  <a:pt x="-17625" y="4567740"/>
                  <a:pt x="49627" y="5149125"/>
                  <a:pt x="18288" y="5590381"/>
                </a:cubicBezTo>
                <a:cubicBezTo>
                  <a:pt x="10860" y="5590744"/>
                  <a:pt x="7568" y="5590157"/>
                  <a:pt x="0" y="5590381"/>
                </a:cubicBezTo>
                <a:cubicBezTo>
                  <a:pt x="36767" y="5266821"/>
                  <a:pt x="-16223" y="5116146"/>
                  <a:pt x="0" y="4835680"/>
                </a:cubicBezTo>
                <a:cubicBezTo>
                  <a:pt x="16223" y="4555214"/>
                  <a:pt x="-16316" y="4356490"/>
                  <a:pt x="0" y="4136882"/>
                </a:cubicBezTo>
                <a:cubicBezTo>
                  <a:pt x="16316" y="3917274"/>
                  <a:pt x="8005" y="3773465"/>
                  <a:pt x="0" y="3549892"/>
                </a:cubicBezTo>
                <a:cubicBezTo>
                  <a:pt x="-8005" y="3326319"/>
                  <a:pt x="27623" y="3052456"/>
                  <a:pt x="0" y="2851094"/>
                </a:cubicBezTo>
                <a:cubicBezTo>
                  <a:pt x="-27623" y="2649732"/>
                  <a:pt x="5614" y="2455815"/>
                  <a:pt x="0" y="2264104"/>
                </a:cubicBezTo>
                <a:cubicBezTo>
                  <a:pt x="-5614" y="2072393"/>
                  <a:pt x="22598" y="1990723"/>
                  <a:pt x="0" y="1733018"/>
                </a:cubicBezTo>
                <a:cubicBezTo>
                  <a:pt x="-22598" y="1475313"/>
                  <a:pt x="-6965" y="1369123"/>
                  <a:pt x="0" y="1090124"/>
                </a:cubicBezTo>
                <a:cubicBezTo>
                  <a:pt x="6965" y="811125"/>
                  <a:pt x="-19273" y="50704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3114097614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white background with black text&#10;&#10;AI-generated content may be incorrect.">
            <a:extLst>
              <a:ext uri="{FF2B5EF4-FFF2-40B4-BE49-F238E27FC236}">
                <a16:creationId xmlns:a16="http://schemas.microsoft.com/office/drawing/2014/main" id="{3DB35B9B-749C-069F-476A-C873B8E692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4296" y="1312255"/>
            <a:ext cx="6894576" cy="2550993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FD1C08-D3ED-0CCE-8371-EE3882F855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54296" y="4798577"/>
            <a:ext cx="6894576" cy="142848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200"/>
              <a:t>У случају Декартовог производа време извршења је пропорционалан величини табела. </a:t>
            </a:r>
          </a:p>
          <a:p>
            <a:r>
              <a:rPr lang="en-US" sz="2200"/>
              <a:t>Једна од оптимизација јесте учитавање више блокова прве табеле и пролазак кроз другу табелу. </a:t>
            </a:r>
          </a:p>
        </p:txBody>
      </p:sp>
    </p:spTree>
    <p:extLst>
      <p:ext uri="{BB962C8B-B14F-4D97-AF65-F5344CB8AC3E}">
        <p14:creationId xmlns:p14="http://schemas.microsoft.com/office/powerpoint/2010/main" val="35974394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FDC74EA-3BC6-4516-9CBB-5468959D51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080"/>
            <a:ext cx="4818888" cy="1481328"/>
          </a:xfrm>
        </p:spPr>
        <p:txBody>
          <a:bodyPr anchor="b">
            <a:normAutofit/>
          </a:bodyPr>
          <a:lstStyle/>
          <a:p>
            <a:r>
              <a:rPr lang="en-US" sz="3800"/>
              <a:t>Алгоритми за спајање табела - Hash</a:t>
            </a:r>
          </a:p>
        </p:txBody>
      </p:sp>
      <p:sp>
        <p:nvSpPr>
          <p:cNvPr id="20" name="sketch line">
            <a:extLst>
              <a:ext uri="{FF2B5EF4-FFF2-40B4-BE49-F238E27FC236}">
                <a16:creationId xmlns:a16="http://schemas.microsoft.com/office/drawing/2014/main" id="{650D18FE-0824-4A46-B22C-A86B52E578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889329-5701-D999-6BC4-EFC4CCE575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660904"/>
            <a:ext cx="4818888" cy="354787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1500"/>
              <a:t>Ако су две вредности једнаке и њихове хеш вредности ће бити једнаке. </a:t>
            </a:r>
          </a:p>
          <a:p>
            <a:r>
              <a:rPr lang="en-US" sz="1500" dirty="0" err="1"/>
              <a:t>Прво</a:t>
            </a:r>
            <a:r>
              <a:rPr lang="en-US" sz="1500" dirty="0"/>
              <a:t> </a:t>
            </a:r>
            <a:r>
              <a:rPr lang="en-US" sz="1500" dirty="0" err="1"/>
              <a:t>се</a:t>
            </a:r>
            <a:r>
              <a:rPr lang="en-US" sz="1500" dirty="0"/>
              <a:t> </a:t>
            </a:r>
            <a:r>
              <a:rPr lang="en-US" sz="1500" dirty="0" err="1"/>
              <a:t>сви</a:t>
            </a:r>
            <a:r>
              <a:rPr lang="en-US" sz="1500" dirty="0"/>
              <a:t> </a:t>
            </a:r>
            <a:r>
              <a:rPr lang="en-US" sz="1500" dirty="0" err="1"/>
              <a:t>редове</a:t>
            </a:r>
            <a:r>
              <a:rPr lang="en-US" sz="1500" dirty="0"/>
              <a:t> </a:t>
            </a:r>
            <a:r>
              <a:rPr lang="en-US" sz="1500" dirty="0" err="1"/>
              <a:t>прве</a:t>
            </a:r>
            <a:r>
              <a:rPr lang="en-US" sz="1500" dirty="0"/>
              <a:t> </a:t>
            </a:r>
            <a:r>
              <a:rPr lang="en-US" sz="1500" dirty="0" err="1"/>
              <a:t>табеле</a:t>
            </a:r>
            <a:r>
              <a:rPr lang="en-US" sz="1500" dirty="0"/>
              <a:t> </a:t>
            </a:r>
            <a:r>
              <a:rPr lang="en-US" sz="1500" dirty="0" err="1"/>
              <a:t>смештају</a:t>
            </a:r>
            <a:r>
              <a:rPr lang="en-US" sz="1500" dirty="0"/>
              <a:t> у </a:t>
            </a:r>
            <a:r>
              <a:rPr lang="en-US" sz="1500" dirty="0" err="1"/>
              <a:t>хеш</a:t>
            </a:r>
            <a:r>
              <a:rPr lang="en-US" sz="1500" dirty="0"/>
              <a:t> </a:t>
            </a:r>
            <a:r>
              <a:rPr lang="en-US" sz="1500" dirty="0" err="1"/>
              <a:t>табелу</a:t>
            </a:r>
            <a:r>
              <a:rPr lang="en-US" sz="1500" dirty="0"/>
              <a:t> </a:t>
            </a:r>
            <a:r>
              <a:rPr lang="en-US" sz="1500" dirty="0" err="1"/>
              <a:t>при</a:t>
            </a:r>
            <a:r>
              <a:rPr lang="en-US" sz="1500" dirty="0"/>
              <a:t> </a:t>
            </a:r>
            <a:r>
              <a:rPr lang="en-US" sz="1500" dirty="0" err="1"/>
              <a:t>чему</a:t>
            </a:r>
            <a:r>
              <a:rPr lang="en-US" sz="1500" dirty="0"/>
              <a:t> </a:t>
            </a:r>
            <a:r>
              <a:rPr lang="en-US" sz="1500" dirty="0" err="1"/>
              <a:t>се</a:t>
            </a:r>
            <a:r>
              <a:rPr lang="en-US" sz="1500" dirty="0"/>
              <a:t> </a:t>
            </a:r>
            <a:r>
              <a:rPr lang="en-US" sz="1500" dirty="0" err="1"/>
              <a:t>распоређују</a:t>
            </a:r>
            <a:r>
              <a:rPr lang="en-US" sz="1500" dirty="0"/>
              <a:t> у </a:t>
            </a:r>
            <a:r>
              <a:rPr lang="en-US" sz="1500" dirty="0" err="1"/>
              <a:t>одговарајуће</a:t>
            </a:r>
            <a:r>
              <a:rPr lang="en-US" sz="1500" dirty="0"/>
              <a:t> </a:t>
            </a:r>
            <a:r>
              <a:rPr lang="en-US" sz="1500" dirty="0" err="1"/>
              <a:t>кутије</a:t>
            </a:r>
            <a:r>
              <a:rPr lang="en-US" sz="1500" dirty="0"/>
              <a:t> </a:t>
            </a:r>
            <a:r>
              <a:rPr lang="en-US" sz="1500" dirty="0" err="1"/>
              <a:t>на</a:t>
            </a:r>
            <a:r>
              <a:rPr lang="en-US" sz="1500" dirty="0"/>
              <a:t> </a:t>
            </a:r>
            <a:r>
              <a:rPr lang="en-US" sz="1500" dirty="0" err="1"/>
              <a:t>основу</a:t>
            </a:r>
            <a:r>
              <a:rPr lang="en-US" sz="1500" dirty="0"/>
              <a:t> </a:t>
            </a:r>
            <a:r>
              <a:rPr lang="en-US" sz="1500" dirty="0" err="1"/>
              <a:t>хеш</a:t>
            </a:r>
            <a:r>
              <a:rPr lang="en-US" sz="1500" dirty="0"/>
              <a:t> </a:t>
            </a:r>
            <a:r>
              <a:rPr lang="en-US" sz="1500" dirty="0" err="1"/>
              <a:t>вредности</a:t>
            </a:r>
            <a:r>
              <a:rPr lang="en-US" sz="1500" dirty="0"/>
              <a:t> </a:t>
            </a:r>
            <a:r>
              <a:rPr lang="en-US" sz="1500" dirty="0" err="1"/>
              <a:t>атрибута</a:t>
            </a:r>
            <a:r>
              <a:rPr lang="en-US" sz="1500" dirty="0"/>
              <a:t> </a:t>
            </a:r>
            <a:r>
              <a:rPr lang="en-US" sz="1500" dirty="0" err="1"/>
              <a:t>споја</a:t>
            </a:r>
            <a:r>
              <a:rPr lang="en-US" sz="1500" dirty="0"/>
              <a:t>. </a:t>
            </a:r>
          </a:p>
          <a:p>
            <a:r>
              <a:rPr lang="en-US" sz="1500"/>
              <a:t>Сваки ред из друге табеле се хешира и упућује у одговарајућу кутију. </a:t>
            </a:r>
          </a:p>
          <a:p>
            <a:r>
              <a:rPr lang="en-US" sz="1500" dirty="0" err="1"/>
              <a:t>Уколико</a:t>
            </a:r>
            <a:r>
              <a:rPr lang="en-US" sz="1500" dirty="0"/>
              <a:t> </a:t>
            </a:r>
            <a:r>
              <a:rPr lang="en-US" sz="1500" dirty="0" err="1"/>
              <a:t>се</a:t>
            </a:r>
            <a:r>
              <a:rPr lang="en-US" sz="1500" dirty="0"/>
              <a:t> у </a:t>
            </a:r>
            <a:r>
              <a:rPr lang="en-US" sz="1500" dirty="0" err="1"/>
              <a:t>тој</a:t>
            </a:r>
            <a:r>
              <a:rPr lang="en-US" sz="1500" dirty="0"/>
              <a:t> </a:t>
            </a:r>
            <a:r>
              <a:rPr lang="en-US" sz="1500" dirty="0" err="1"/>
              <a:t>кутији</a:t>
            </a:r>
            <a:r>
              <a:rPr lang="en-US" sz="1500" dirty="0"/>
              <a:t> </a:t>
            </a:r>
            <a:r>
              <a:rPr lang="en-US" sz="1500" dirty="0" err="1"/>
              <a:t>налазе</a:t>
            </a:r>
            <a:r>
              <a:rPr lang="en-US" sz="1500" dirty="0"/>
              <a:t> </a:t>
            </a:r>
            <a:r>
              <a:rPr lang="en-US" sz="1500" dirty="0" err="1"/>
              <a:t>редови</a:t>
            </a:r>
            <a:r>
              <a:rPr lang="en-US" sz="1500" dirty="0"/>
              <a:t> </a:t>
            </a:r>
            <a:r>
              <a:rPr lang="en-US" sz="1500" dirty="0" err="1"/>
              <a:t>из</a:t>
            </a:r>
            <a:r>
              <a:rPr lang="en-US" sz="1500" dirty="0"/>
              <a:t> </a:t>
            </a:r>
            <a:r>
              <a:rPr lang="en-US" sz="1500" dirty="0" err="1"/>
              <a:t>прве</a:t>
            </a:r>
            <a:r>
              <a:rPr lang="en-US" sz="1500" dirty="0"/>
              <a:t> </a:t>
            </a:r>
            <a:r>
              <a:rPr lang="en-US" sz="1500" dirty="0" err="1"/>
              <a:t>табеле</a:t>
            </a:r>
            <a:r>
              <a:rPr lang="en-US" sz="1500" dirty="0"/>
              <a:t>, </a:t>
            </a:r>
            <a:r>
              <a:rPr lang="en-US" sz="1500" dirty="0" err="1"/>
              <a:t>формира</a:t>
            </a:r>
            <a:r>
              <a:rPr lang="en-US" sz="1500" dirty="0"/>
              <a:t> </a:t>
            </a:r>
            <a:r>
              <a:rPr lang="en-US" sz="1500" dirty="0" err="1"/>
              <a:t>се</a:t>
            </a:r>
            <a:r>
              <a:rPr lang="en-US" sz="1500" dirty="0"/>
              <a:t> </a:t>
            </a:r>
            <a:r>
              <a:rPr lang="en-US" sz="1500" dirty="0" err="1"/>
              <a:t>резултујући</a:t>
            </a:r>
            <a:r>
              <a:rPr lang="en-US" sz="1500" dirty="0"/>
              <a:t> </a:t>
            </a:r>
            <a:r>
              <a:rPr lang="en-US" sz="1500" dirty="0" err="1"/>
              <a:t>ред</a:t>
            </a:r>
            <a:r>
              <a:rPr lang="en-US" sz="1500" dirty="0"/>
              <a:t> </a:t>
            </a:r>
            <a:r>
              <a:rPr lang="en-US" sz="1500" dirty="0" err="1"/>
              <a:t>споја</a:t>
            </a:r>
            <a:r>
              <a:rPr lang="en-US" sz="1500" dirty="0"/>
              <a:t>. </a:t>
            </a:r>
          </a:p>
          <a:p>
            <a:r>
              <a:rPr lang="en-US" sz="1500"/>
              <a:t>Цена алгоритма зависи од тога да ли табеле могу да се учитају у главну меморију. </a:t>
            </a:r>
          </a:p>
        </p:txBody>
      </p:sp>
      <p:pic>
        <p:nvPicPr>
          <p:cNvPr id="6" name="Picture 5" descr="A diagram of a blockchain&#10;&#10;AI-generated content may be incorrect.">
            <a:extLst>
              <a:ext uri="{FF2B5EF4-FFF2-40B4-BE49-F238E27FC236}">
                <a16:creationId xmlns:a16="http://schemas.microsoft.com/office/drawing/2014/main" id="{828FF479-6854-9AEE-797E-2528DC1258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985" y="2105024"/>
            <a:ext cx="5831271" cy="3081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56772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D54A560-316A-DE5E-D1E3-4EEA73310C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anchor="b">
            <a:normAutofit/>
          </a:bodyPr>
          <a:lstStyle/>
          <a:p>
            <a:r>
              <a:rPr lang="en-US" sz="3800"/>
              <a:t>Алгоритми за спајање табела - Merge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6357EC4F-235E-4222-A36F-C7878ACE37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4F6EC3-18CA-08A2-5C81-6C652E40C0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807208"/>
            <a:ext cx="3429000" cy="341071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1700" dirty="0" err="1"/>
              <a:t>Потребно</a:t>
            </a:r>
            <a:r>
              <a:rPr lang="en-US" sz="1700" dirty="0"/>
              <a:t> </a:t>
            </a:r>
            <a:r>
              <a:rPr lang="en-US" sz="1700" dirty="0" err="1"/>
              <a:t>је</a:t>
            </a:r>
            <a:r>
              <a:rPr lang="en-US" sz="1700" dirty="0"/>
              <a:t> </a:t>
            </a:r>
            <a:r>
              <a:rPr lang="en-US" sz="1700" dirty="0" err="1"/>
              <a:t>сортирати</a:t>
            </a:r>
            <a:r>
              <a:rPr lang="en-US" sz="1700" dirty="0"/>
              <a:t> </a:t>
            </a:r>
            <a:r>
              <a:rPr lang="en-US" sz="1700" dirty="0" err="1"/>
              <a:t>табеле</a:t>
            </a:r>
            <a:r>
              <a:rPr lang="en-US" sz="1700" dirty="0"/>
              <a:t> у </a:t>
            </a:r>
            <a:r>
              <a:rPr lang="en-US" sz="1700" dirty="0" err="1"/>
              <a:t>растућем</a:t>
            </a:r>
            <a:r>
              <a:rPr lang="en-US" sz="1700" dirty="0"/>
              <a:t> </a:t>
            </a:r>
            <a:r>
              <a:rPr lang="en-US" sz="1700" dirty="0" err="1"/>
              <a:t>редоследу</a:t>
            </a:r>
            <a:r>
              <a:rPr lang="en-US" sz="1700" dirty="0"/>
              <a:t> </a:t>
            </a:r>
            <a:r>
              <a:rPr lang="en-US" sz="1700" dirty="0" err="1"/>
              <a:t>по</a:t>
            </a:r>
            <a:r>
              <a:rPr lang="en-US" sz="1700" dirty="0"/>
              <a:t> </a:t>
            </a:r>
            <a:r>
              <a:rPr lang="en-US" sz="1700" dirty="0" err="1"/>
              <a:t>заједничком</a:t>
            </a:r>
            <a:r>
              <a:rPr lang="en-US" sz="1700" dirty="0"/>
              <a:t> </a:t>
            </a:r>
            <a:r>
              <a:rPr lang="en-US" sz="1700" i="1" dirty="0">
                <a:ea typeface="+mn-lt"/>
                <a:cs typeface="+mn-lt"/>
              </a:rPr>
              <a:t>„join”</a:t>
            </a:r>
            <a:r>
              <a:rPr lang="en-US" sz="1700" dirty="0">
                <a:ea typeface="+mn-lt"/>
                <a:cs typeface="+mn-lt"/>
              </a:rPr>
              <a:t> </a:t>
            </a:r>
            <a:r>
              <a:rPr lang="en-US" sz="1700" dirty="0" err="1">
                <a:ea typeface="+mn-lt"/>
                <a:cs typeface="+mn-lt"/>
              </a:rPr>
              <a:t>параметру</a:t>
            </a:r>
            <a:r>
              <a:rPr lang="en-US" sz="1700" dirty="0">
                <a:ea typeface="+mn-lt"/>
                <a:cs typeface="+mn-lt"/>
              </a:rPr>
              <a:t>.</a:t>
            </a:r>
          </a:p>
          <a:p>
            <a:r>
              <a:rPr lang="en-US" sz="1700"/>
              <a:t>Након сортирања следи Декартов производ за сваки ред који садржи заједнички параметар. </a:t>
            </a:r>
          </a:p>
          <a:p>
            <a:r>
              <a:rPr lang="en-US" sz="1700"/>
              <a:t>Ефикасност алгоритма расте ако су табеле већ сортиране.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A127931-0874-71BF-A4C5-4D7ED88562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4296" y="1444180"/>
            <a:ext cx="6903720" cy="3969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9199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9B7AD9F6-8CE7-4299-8FC6-328F4DCD3F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A665DDF-591C-15A0-C6CF-93E8114177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0338" y="640080"/>
            <a:ext cx="3734014" cy="356616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/>
              <a:t>Практични део - Увод</a:t>
            </a:r>
          </a:p>
        </p:txBody>
      </p:sp>
      <p:sp>
        <p:nvSpPr>
          <p:cNvPr id="20" name="sketchy line">
            <a:extLst>
              <a:ext uri="{FF2B5EF4-FFF2-40B4-BE49-F238E27FC236}">
                <a16:creationId xmlns:a16="http://schemas.microsoft.com/office/drawing/2014/main" id="{F49775AF-8896-43EE-92C6-83497D6DC5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90338" y="4409267"/>
            <a:ext cx="3474720" cy="18288"/>
          </a:xfrm>
          <a:custGeom>
            <a:avLst/>
            <a:gdLst>
              <a:gd name="csX0" fmla="*/ 0 w 3474720"/>
              <a:gd name="csY0" fmla="*/ 0 h 18288"/>
              <a:gd name="csX1" fmla="*/ 694944 w 3474720"/>
              <a:gd name="csY1" fmla="*/ 0 h 18288"/>
              <a:gd name="csX2" fmla="*/ 1355141 w 3474720"/>
              <a:gd name="csY2" fmla="*/ 0 h 18288"/>
              <a:gd name="csX3" fmla="*/ 2015338 w 3474720"/>
              <a:gd name="csY3" fmla="*/ 0 h 18288"/>
              <a:gd name="csX4" fmla="*/ 2779776 w 3474720"/>
              <a:gd name="csY4" fmla="*/ 0 h 18288"/>
              <a:gd name="csX5" fmla="*/ 3474720 w 3474720"/>
              <a:gd name="csY5" fmla="*/ 0 h 18288"/>
              <a:gd name="csX6" fmla="*/ 3474720 w 3474720"/>
              <a:gd name="csY6" fmla="*/ 18288 h 18288"/>
              <a:gd name="csX7" fmla="*/ 2779776 w 3474720"/>
              <a:gd name="csY7" fmla="*/ 18288 h 18288"/>
              <a:gd name="csX8" fmla="*/ 2189074 w 3474720"/>
              <a:gd name="csY8" fmla="*/ 18288 h 18288"/>
              <a:gd name="csX9" fmla="*/ 1528877 w 3474720"/>
              <a:gd name="csY9" fmla="*/ 18288 h 18288"/>
              <a:gd name="csX10" fmla="*/ 868680 w 3474720"/>
              <a:gd name="csY10" fmla="*/ 18288 h 18288"/>
              <a:gd name="csX11" fmla="*/ 0 w 3474720"/>
              <a:gd name="csY11" fmla="*/ 18288 h 18288"/>
              <a:gd name="csX12" fmla="*/ 0 w 347472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Content Placeholder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C85D65F-B452-E65B-622E-A14112EC36A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545" r="15468" b="-2"/>
          <a:stretch>
            <a:fillRect/>
          </a:stretch>
        </p:blipFill>
        <p:spPr>
          <a:xfrm>
            <a:off x="5311702" y="341596"/>
            <a:ext cx="6537189" cy="6516404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667874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2AEEBC8-9D30-42EF-95F2-386C2653FB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F896A68-7F69-A55B-3247-CE514E5E2B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502920"/>
            <a:ext cx="3419856" cy="1463040"/>
          </a:xfrm>
        </p:spPr>
        <p:txBody>
          <a:bodyPr anchor="ctr">
            <a:normAutofit/>
          </a:bodyPr>
          <a:lstStyle/>
          <a:p>
            <a:r>
              <a:rPr lang="en-US" dirty="0" err="1"/>
              <a:t>Илустровани</a:t>
            </a:r>
            <a:r>
              <a:rPr lang="en-US" dirty="0"/>
              <a:t> </a:t>
            </a:r>
            <a:r>
              <a:rPr lang="en-US" dirty="0" err="1"/>
              <a:t>пример</a:t>
            </a:r>
            <a:r>
              <a:rPr lang="en-US" dirty="0"/>
              <a:t> - I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2E92FA66-67D7-4CB4-94D3-E643A9AD4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566159" y="1225296"/>
            <a:ext cx="1554480" cy="18288"/>
          </a:xfrm>
          <a:custGeom>
            <a:avLst/>
            <a:gdLst>
              <a:gd name="csX0" fmla="*/ 0 w 1554480"/>
              <a:gd name="csY0" fmla="*/ 0 h 18288"/>
              <a:gd name="csX1" fmla="*/ 549250 w 1554480"/>
              <a:gd name="csY1" fmla="*/ 0 h 18288"/>
              <a:gd name="csX2" fmla="*/ 1082954 w 1554480"/>
              <a:gd name="csY2" fmla="*/ 0 h 18288"/>
              <a:gd name="csX3" fmla="*/ 1554480 w 1554480"/>
              <a:gd name="csY3" fmla="*/ 0 h 18288"/>
              <a:gd name="csX4" fmla="*/ 1554480 w 1554480"/>
              <a:gd name="csY4" fmla="*/ 18288 h 18288"/>
              <a:gd name="csX5" fmla="*/ 1067410 w 1554480"/>
              <a:gd name="csY5" fmla="*/ 18288 h 18288"/>
              <a:gd name="csX6" fmla="*/ 549250 w 1554480"/>
              <a:gd name="csY6" fmla="*/ 18288 h 18288"/>
              <a:gd name="csX7" fmla="*/ 0 w 1554480"/>
              <a:gd name="csY7" fmla="*/ 18288 h 18288"/>
              <a:gd name="csX8" fmla="*/ 0 w 1554480"/>
              <a:gd name="csY8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554480" h="18288" fill="none" extrusionOk="0">
                <a:moveTo>
                  <a:pt x="0" y="0"/>
                </a:moveTo>
                <a:cubicBezTo>
                  <a:pt x="114141" y="-19864"/>
                  <a:pt x="345055" y="-1657"/>
                  <a:pt x="549250" y="0"/>
                </a:cubicBezTo>
                <a:cubicBezTo>
                  <a:pt x="753445" y="1657"/>
                  <a:pt x="862292" y="-5674"/>
                  <a:pt x="1082954" y="0"/>
                </a:cubicBezTo>
                <a:cubicBezTo>
                  <a:pt x="1303616" y="5674"/>
                  <a:pt x="1363530" y="4537"/>
                  <a:pt x="1554480" y="0"/>
                </a:cubicBezTo>
                <a:cubicBezTo>
                  <a:pt x="1554963" y="7176"/>
                  <a:pt x="1553909" y="13682"/>
                  <a:pt x="1554480" y="18288"/>
                </a:cubicBezTo>
                <a:cubicBezTo>
                  <a:pt x="1338847" y="6127"/>
                  <a:pt x="1215066" y="37851"/>
                  <a:pt x="1067410" y="18288"/>
                </a:cubicBezTo>
                <a:cubicBezTo>
                  <a:pt x="919754" y="-1275"/>
                  <a:pt x="800465" y="3080"/>
                  <a:pt x="549250" y="18288"/>
                </a:cubicBezTo>
                <a:cubicBezTo>
                  <a:pt x="298035" y="33496"/>
                  <a:pt x="158868" y="22769"/>
                  <a:pt x="0" y="18288"/>
                </a:cubicBezTo>
                <a:cubicBezTo>
                  <a:pt x="-655" y="13237"/>
                  <a:pt x="709" y="4645"/>
                  <a:pt x="0" y="0"/>
                </a:cubicBezTo>
                <a:close/>
              </a:path>
              <a:path w="1554480" h="18288" stroke="0" extrusionOk="0">
                <a:moveTo>
                  <a:pt x="0" y="0"/>
                </a:moveTo>
                <a:cubicBezTo>
                  <a:pt x="249941" y="-58"/>
                  <a:pt x="367334" y="23448"/>
                  <a:pt x="502615" y="0"/>
                </a:cubicBezTo>
                <a:cubicBezTo>
                  <a:pt x="637897" y="-23448"/>
                  <a:pt x="813653" y="-20418"/>
                  <a:pt x="974141" y="0"/>
                </a:cubicBezTo>
                <a:cubicBezTo>
                  <a:pt x="1134629" y="20418"/>
                  <a:pt x="1268772" y="6288"/>
                  <a:pt x="1554480" y="0"/>
                </a:cubicBezTo>
                <a:cubicBezTo>
                  <a:pt x="1554917" y="7222"/>
                  <a:pt x="1555359" y="13299"/>
                  <a:pt x="1554480" y="18288"/>
                </a:cubicBezTo>
                <a:cubicBezTo>
                  <a:pt x="1336087" y="12172"/>
                  <a:pt x="1310024" y="19759"/>
                  <a:pt x="1067410" y="18288"/>
                </a:cubicBezTo>
                <a:cubicBezTo>
                  <a:pt x="824796" y="16818"/>
                  <a:pt x="787902" y="34647"/>
                  <a:pt x="518160" y="18288"/>
                </a:cubicBezTo>
                <a:cubicBezTo>
                  <a:pt x="248418" y="1930"/>
                  <a:pt x="133160" y="9205"/>
                  <a:pt x="0" y="18288"/>
                </a:cubicBezTo>
                <a:cubicBezTo>
                  <a:pt x="-643" y="9451"/>
                  <a:pt x="-340" y="711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AACDC7-F4BB-F666-2487-7DC726FEC5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67433" y="502921"/>
            <a:ext cx="6894576" cy="190972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endParaRPr lang="en-US" sz="2200" dirty="0"/>
          </a:p>
          <a:p>
            <a:r>
              <a:rPr lang="en-US" sz="2200" err="1"/>
              <a:t>Упит</a:t>
            </a:r>
            <a:r>
              <a:rPr lang="en-US" sz="2200" dirty="0"/>
              <a:t> </a:t>
            </a:r>
            <a:r>
              <a:rPr lang="en-US" sz="2200" err="1"/>
              <a:t>спаја</a:t>
            </a:r>
            <a:r>
              <a:rPr lang="en-US" sz="2200" dirty="0"/>
              <a:t> </a:t>
            </a:r>
            <a:r>
              <a:rPr lang="en-US" sz="2200" err="1"/>
              <a:t>табелу</a:t>
            </a:r>
            <a:r>
              <a:rPr lang="en-US" sz="2200" dirty="0"/>
              <a:t> </a:t>
            </a:r>
            <a:r>
              <a:rPr lang="en-US" sz="2200" err="1"/>
              <a:t>наслови</a:t>
            </a:r>
            <a:r>
              <a:rPr lang="en-US" sz="2200" dirty="0"/>
              <a:t> и </a:t>
            </a:r>
            <a:r>
              <a:rPr lang="en-US" sz="2200" err="1"/>
              <a:t>табелу</a:t>
            </a:r>
            <a:r>
              <a:rPr lang="en-US" sz="2200" dirty="0"/>
              <a:t> </a:t>
            </a:r>
            <a:r>
              <a:rPr lang="en-US" sz="2200" err="1"/>
              <a:t>оцене</a:t>
            </a:r>
            <a:r>
              <a:rPr lang="en-US" sz="2200" dirty="0"/>
              <a:t> </a:t>
            </a:r>
            <a:r>
              <a:rPr lang="en-US" sz="2200" err="1"/>
              <a:t>преко</a:t>
            </a:r>
            <a:r>
              <a:rPr lang="en-US" sz="2200" dirty="0"/>
              <a:t> </a:t>
            </a:r>
            <a:r>
              <a:rPr lang="en-US" sz="2200" err="1"/>
              <a:t>кључа</a:t>
            </a:r>
            <a:r>
              <a:rPr lang="en-US" sz="2200" dirty="0"/>
              <a:t> </a:t>
            </a:r>
            <a:r>
              <a:rPr lang="en-US" sz="2200" i="1" dirty="0">
                <a:ea typeface="+mn-lt"/>
                <a:cs typeface="+mn-lt"/>
              </a:rPr>
              <a:t>„</a:t>
            </a:r>
            <a:r>
              <a:rPr lang="en-US" sz="2200" i="1" err="1">
                <a:ea typeface="+mn-lt"/>
                <a:cs typeface="+mn-lt"/>
              </a:rPr>
              <a:t>tconst</a:t>
            </a:r>
            <a:r>
              <a:rPr lang="en-US" sz="2200" i="1" dirty="0">
                <a:ea typeface="+mn-lt"/>
                <a:cs typeface="+mn-lt"/>
              </a:rPr>
              <a:t>” </a:t>
            </a:r>
            <a:r>
              <a:rPr lang="en-US" sz="2200" dirty="0">
                <a:ea typeface="+mn-lt"/>
                <a:cs typeface="+mn-lt"/>
              </a:rPr>
              <a:t>и </a:t>
            </a:r>
            <a:r>
              <a:rPr lang="en-US" sz="2200" err="1">
                <a:ea typeface="+mn-lt"/>
                <a:cs typeface="+mn-lt"/>
              </a:rPr>
              <a:t>издваја</a:t>
            </a:r>
            <a:r>
              <a:rPr lang="en-US" sz="2200" dirty="0">
                <a:ea typeface="+mn-lt"/>
                <a:cs typeface="+mn-lt"/>
              </a:rPr>
              <a:t> </a:t>
            </a:r>
            <a:r>
              <a:rPr lang="en-US" sz="2200" err="1">
                <a:ea typeface="+mn-lt"/>
                <a:cs typeface="+mn-lt"/>
              </a:rPr>
              <a:t>назив</a:t>
            </a:r>
            <a:r>
              <a:rPr lang="en-US" sz="2200" dirty="0">
                <a:ea typeface="+mn-lt"/>
                <a:cs typeface="+mn-lt"/>
              </a:rPr>
              <a:t> </a:t>
            </a:r>
            <a:r>
              <a:rPr lang="en-US" sz="2200" err="1">
                <a:ea typeface="+mn-lt"/>
                <a:cs typeface="+mn-lt"/>
              </a:rPr>
              <a:t>филма</a:t>
            </a:r>
            <a:r>
              <a:rPr lang="en-US" sz="2200" dirty="0">
                <a:ea typeface="+mn-lt"/>
                <a:cs typeface="+mn-lt"/>
              </a:rPr>
              <a:t> и </a:t>
            </a:r>
            <a:r>
              <a:rPr lang="en-US" sz="2200" err="1">
                <a:ea typeface="+mn-lt"/>
                <a:cs typeface="+mn-lt"/>
              </a:rPr>
              <a:t>његову</a:t>
            </a:r>
            <a:r>
              <a:rPr lang="en-US" sz="2200" dirty="0">
                <a:ea typeface="+mn-lt"/>
                <a:cs typeface="+mn-lt"/>
              </a:rPr>
              <a:t> </a:t>
            </a:r>
            <a:r>
              <a:rPr lang="en-US" sz="2200" err="1">
                <a:ea typeface="+mn-lt"/>
                <a:cs typeface="+mn-lt"/>
              </a:rPr>
              <a:t>просечну</a:t>
            </a:r>
            <a:r>
              <a:rPr lang="en-US" sz="2200" dirty="0">
                <a:ea typeface="+mn-lt"/>
                <a:cs typeface="+mn-lt"/>
              </a:rPr>
              <a:t> </a:t>
            </a:r>
            <a:r>
              <a:rPr lang="en-US" sz="2200" err="1">
                <a:ea typeface="+mn-lt"/>
                <a:cs typeface="+mn-lt"/>
              </a:rPr>
              <a:t>оцену</a:t>
            </a:r>
            <a:r>
              <a:rPr lang="en-US" sz="2200" dirty="0">
                <a:ea typeface="+mn-lt"/>
                <a:cs typeface="+mn-lt"/>
              </a:rPr>
              <a:t> </a:t>
            </a:r>
            <a:r>
              <a:rPr lang="en-US" sz="2200" err="1">
                <a:ea typeface="+mn-lt"/>
                <a:cs typeface="+mn-lt"/>
              </a:rPr>
              <a:t>за</a:t>
            </a:r>
            <a:r>
              <a:rPr lang="en-US" sz="2200" dirty="0">
                <a:ea typeface="+mn-lt"/>
                <a:cs typeface="+mn-lt"/>
              </a:rPr>
              <a:t> </a:t>
            </a:r>
            <a:r>
              <a:rPr lang="en-US" sz="2200" err="1">
                <a:ea typeface="+mn-lt"/>
                <a:cs typeface="+mn-lt"/>
              </a:rPr>
              <a:t>филмове</a:t>
            </a:r>
            <a:r>
              <a:rPr lang="en-US" sz="2200" dirty="0">
                <a:ea typeface="+mn-lt"/>
                <a:cs typeface="+mn-lt"/>
              </a:rPr>
              <a:t> </a:t>
            </a:r>
            <a:r>
              <a:rPr lang="en-US" sz="2200" err="1">
                <a:ea typeface="+mn-lt"/>
                <a:cs typeface="+mn-lt"/>
              </a:rPr>
              <a:t>који</a:t>
            </a:r>
            <a:r>
              <a:rPr lang="en-US" sz="2200" dirty="0">
                <a:ea typeface="+mn-lt"/>
                <a:cs typeface="+mn-lt"/>
              </a:rPr>
              <a:t> </a:t>
            </a:r>
            <a:r>
              <a:rPr lang="en-US" sz="2200" err="1">
                <a:ea typeface="+mn-lt"/>
                <a:cs typeface="+mn-lt"/>
              </a:rPr>
              <a:t>имају</a:t>
            </a:r>
            <a:r>
              <a:rPr lang="en-US" sz="2200" dirty="0">
                <a:ea typeface="+mn-lt"/>
                <a:cs typeface="+mn-lt"/>
              </a:rPr>
              <a:t> </a:t>
            </a:r>
            <a:r>
              <a:rPr lang="en-US" sz="2200" err="1">
                <a:ea typeface="+mn-lt"/>
                <a:cs typeface="+mn-lt"/>
              </a:rPr>
              <a:t>више</a:t>
            </a:r>
            <a:r>
              <a:rPr lang="en-US" sz="2200" dirty="0">
                <a:ea typeface="+mn-lt"/>
                <a:cs typeface="+mn-lt"/>
              </a:rPr>
              <a:t> </a:t>
            </a:r>
            <a:r>
              <a:rPr lang="en-US" sz="2200" err="1">
                <a:ea typeface="+mn-lt"/>
                <a:cs typeface="+mn-lt"/>
              </a:rPr>
              <a:t>од</a:t>
            </a:r>
            <a:r>
              <a:rPr lang="en-US" sz="2200" dirty="0">
                <a:ea typeface="+mn-lt"/>
                <a:cs typeface="+mn-lt"/>
              </a:rPr>
              <a:t> </a:t>
            </a:r>
            <a:r>
              <a:rPr lang="en-US" sz="2200" err="1">
                <a:ea typeface="+mn-lt"/>
                <a:cs typeface="+mn-lt"/>
              </a:rPr>
              <a:t>милион</a:t>
            </a:r>
            <a:r>
              <a:rPr lang="en-US" sz="2200" dirty="0">
                <a:ea typeface="+mn-lt"/>
                <a:cs typeface="+mn-lt"/>
              </a:rPr>
              <a:t> </a:t>
            </a:r>
            <a:r>
              <a:rPr lang="en-US" sz="2200" err="1">
                <a:ea typeface="+mn-lt"/>
                <a:cs typeface="+mn-lt"/>
              </a:rPr>
              <a:t>гласова</a:t>
            </a:r>
            <a:r>
              <a:rPr lang="en-US" sz="2200" i="1" dirty="0">
                <a:ea typeface="+mn-lt"/>
                <a:cs typeface="+mn-lt"/>
              </a:rPr>
              <a:t>.</a:t>
            </a:r>
            <a:endParaRPr lang="en-US" dirty="0"/>
          </a:p>
          <a:p>
            <a:endParaRPr lang="en-US" sz="2200" i="1"/>
          </a:p>
          <a:p>
            <a:endParaRPr lang="en-US" sz="2200" i="1"/>
          </a:p>
        </p:txBody>
      </p:sp>
      <p:pic>
        <p:nvPicPr>
          <p:cNvPr id="5" name="Picture 4" descr="A close-up of a computer screen&#10;&#10;AI-generated content may be incorrect.">
            <a:extLst>
              <a:ext uri="{FF2B5EF4-FFF2-40B4-BE49-F238E27FC236}">
                <a16:creationId xmlns:a16="http://schemas.microsoft.com/office/drawing/2014/main" id="{BB5C5CD0-87C1-B0F5-5B41-20B864D49F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047" y="3197767"/>
            <a:ext cx="10917936" cy="1637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20567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A8908DB7-C3A6-4FCB-9820-CEE02B398C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981F2A9-2B63-1098-3E53-EAE39F825D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823"/>
            <a:ext cx="3419856" cy="5583148"/>
          </a:xfrm>
        </p:spPr>
        <p:txBody>
          <a:bodyPr anchor="ctr">
            <a:normAutofit/>
          </a:bodyPr>
          <a:lstStyle/>
          <a:p>
            <a:r>
              <a:rPr lang="en-US" sz="4200"/>
              <a:t>Илустровани пример I - Наставак</a:t>
            </a:r>
          </a:p>
        </p:txBody>
      </p:sp>
      <p:sp>
        <p:nvSpPr>
          <p:cNvPr id="13" name="sketch line">
            <a:extLst>
              <a:ext uri="{FF2B5EF4-FFF2-40B4-BE49-F238E27FC236}">
                <a16:creationId xmlns:a16="http://schemas.microsoft.com/office/drawing/2014/main" id="{535742DD-1B16-4E9D-B715-0D74B4574A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267200" y="630936"/>
            <a:ext cx="18288" cy="5590381"/>
          </a:xfrm>
          <a:custGeom>
            <a:avLst/>
            <a:gdLst>
              <a:gd name="csX0" fmla="*/ 0 w 18288"/>
              <a:gd name="csY0" fmla="*/ 0 h 5590381"/>
              <a:gd name="csX1" fmla="*/ 18288 w 18288"/>
              <a:gd name="csY1" fmla="*/ 0 h 5590381"/>
              <a:gd name="csX2" fmla="*/ 18288 w 18288"/>
              <a:gd name="csY2" fmla="*/ 754701 h 5590381"/>
              <a:gd name="csX3" fmla="*/ 18288 w 18288"/>
              <a:gd name="csY3" fmla="*/ 1565307 h 5590381"/>
              <a:gd name="csX4" fmla="*/ 18288 w 18288"/>
              <a:gd name="csY4" fmla="*/ 2152297 h 5590381"/>
              <a:gd name="csX5" fmla="*/ 18288 w 18288"/>
              <a:gd name="csY5" fmla="*/ 2906998 h 5590381"/>
              <a:gd name="csX6" fmla="*/ 18288 w 18288"/>
              <a:gd name="csY6" fmla="*/ 3549892 h 5590381"/>
              <a:gd name="csX7" fmla="*/ 18288 w 18288"/>
              <a:gd name="csY7" fmla="*/ 4080978 h 5590381"/>
              <a:gd name="csX8" fmla="*/ 18288 w 18288"/>
              <a:gd name="csY8" fmla="*/ 4835680 h 5590381"/>
              <a:gd name="csX9" fmla="*/ 18288 w 18288"/>
              <a:gd name="csY9" fmla="*/ 5590381 h 5590381"/>
              <a:gd name="csX10" fmla="*/ 0 w 18288"/>
              <a:gd name="csY10" fmla="*/ 5590381 h 5590381"/>
              <a:gd name="csX11" fmla="*/ 0 w 18288"/>
              <a:gd name="csY11" fmla="*/ 4835680 h 5590381"/>
              <a:gd name="csX12" fmla="*/ 0 w 18288"/>
              <a:gd name="csY12" fmla="*/ 4304593 h 5590381"/>
              <a:gd name="csX13" fmla="*/ 0 w 18288"/>
              <a:gd name="csY13" fmla="*/ 3773507 h 5590381"/>
              <a:gd name="csX14" fmla="*/ 0 w 18288"/>
              <a:gd name="csY14" fmla="*/ 3186517 h 5590381"/>
              <a:gd name="csX15" fmla="*/ 0 w 18288"/>
              <a:gd name="csY15" fmla="*/ 2487720 h 5590381"/>
              <a:gd name="csX16" fmla="*/ 0 w 18288"/>
              <a:gd name="csY16" fmla="*/ 1956633 h 5590381"/>
              <a:gd name="csX17" fmla="*/ 0 w 18288"/>
              <a:gd name="csY17" fmla="*/ 1425547 h 5590381"/>
              <a:gd name="csX18" fmla="*/ 0 w 18288"/>
              <a:gd name="csY18" fmla="*/ 614942 h 5590381"/>
              <a:gd name="csX19" fmla="*/ 0 w 18288"/>
              <a:gd name="csY19" fmla="*/ 0 h 559038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</a:cxnLst>
            <a:rect l="l" t="t" r="r" b="b"/>
            <a:pathLst>
              <a:path w="18288" h="5590381" fill="none" extrusionOk="0">
                <a:moveTo>
                  <a:pt x="0" y="0"/>
                </a:moveTo>
                <a:cubicBezTo>
                  <a:pt x="7726" y="-435"/>
                  <a:pt x="14198" y="437"/>
                  <a:pt x="18288" y="0"/>
                </a:cubicBezTo>
                <a:cubicBezTo>
                  <a:pt x="-5226" y="225076"/>
                  <a:pt x="46275" y="562283"/>
                  <a:pt x="18288" y="754701"/>
                </a:cubicBezTo>
                <a:cubicBezTo>
                  <a:pt x="-9699" y="947119"/>
                  <a:pt x="30081" y="1239251"/>
                  <a:pt x="18288" y="1565307"/>
                </a:cubicBezTo>
                <a:cubicBezTo>
                  <a:pt x="6495" y="1891363"/>
                  <a:pt x="7160" y="1999140"/>
                  <a:pt x="18288" y="2152297"/>
                </a:cubicBezTo>
                <a:cubicBezTo>
                  <a:pt x="29417" y="2305454"/>
                  <a:pt x="28705" y="2598333"/>
                  <a:pt x="18288" y="2906998"/>
                </a:cubicBezTo>
                <a:cubicBezTo>
                  <a:pt x="7871" y="3215663"/>
                  <a:pt x="35263" y="3327412"/>
                  <a:pt x="18288" y="3549892"/>
                </a:cubicBezTo>
                <a:cubicBezTo>
                  <a:pt x="1313" y="3772372"/>
                  <a:pt x="38561" y="3843836"/>
                  <a:pt x="18288" y="4080978"/>
                </a:cubicBezTo>
                <a:cubicBezTo>
                  <a:pt x="-1985" y="4318120"/>
                  <a:pt x="-3806" y="4511166"/>
                  <a:pt x="18288" y="4835680"/>
                </a:cubicBezTo>
                <a:cubicBezTo>
                  <a:pt x="40382" y="5160194"/>
                  <a:pt x="-13070" y="5401748"/>
                  <a:pt x="18288" y="5590381"/>
                </a:cubicBezTo>
                <a:cubicBezTo>
                  <a:pt x="12010" y="5589863"/>
                  <a:pt x="6799" y="5589982"/>
                  <a:pt x="0" y="5590381"/>
                </a:cubicBezTo>
                <a:cubicBezTo>
                  <a:pt x="-6480" y="5250523"/>
                  <a:pt x="-32148" y="5052531"/>
                  <a:pt x="0" y="4835680"/>
                </a:cubicBezTo>
                <a:cubicBezTo>
                  <a:pt x="32148" y="4618829"/>
                  <a:pt x="5352" y="4496374"/>
                  <a:pt x="0" y="4304593"/>
                </a:cubicBezTo>
                <a:cubicBezTo>
                  <a:pt x="-5352" y="4112812"/>
                  <a:pt x="9645" y="3919423"/>
                  <a:pt x="0" y="3773507"/>
                </a:cubicBezTo>
                <a:cubicBezTo>
                  <a:pt x="-9645" y="3627591"/>
                  <a:pt x="-10654" y="3330687"/>
                  <a:pt x="0" y="3186517"/>
                </a:cubicBezTo>
                <a:cubicBezTo>
                  <a:pt x="10654" y="3042347"/>
                  <a:pt x="18181" y="2635923"/>
                  <a:pt x="0" y="2487720"/>
                </a:cubicBezTo>
                <a:cubicBezTo>
                  <a:pt x="-18181" y="2339517"/>
                  <a:pt x="-7947" y="2113537"/>
                  <a:pt x="0" y="1956633"/>
                </a:cubicBezTo>
                <a:cubicBezTo>
                  <a:pt x="7947" y="1799729"/>
                  <a:pt x="-15145" y="1657735"/>
                  <a:pt x="0" y="1425547"/>
                </a:cubicBezTo>
                <a:cubicBezTo>
                  <a:pt x="15145" y="1193359"/>
                  <a:pt x="-23832" y="948054"/>
                  <a:pt x="0" y="614942"/>
                </a:cubicBezTo>
                <a:cubicBezTo>
                  <a:pt x="23832" y="281831"/>
                  <a:pt x="2816" y="129878"/>
                  <a:pt x="0" y="0"/>
                </a:cubicBezTo>
                <a:close/>
              </a:path>
              <a:path w="18288" h="5590381" stroke="0" extrusionOk="0">
                <a:moveTo>
                  <a:pt x="0" y="0"/>
                </a:moveTo>
                <a:cubicBezTo>
                  <a:pt x="5871" y="848"/>
                  <a:pt x="11713" y="-200"/>
                  <a:pt x="18288" y="0"/>
                </a:cubicBezTo>
                <a:cubicBezTo>
                  <a:pt x="41141" y="165299"/>
                  <a:pt x="3613" y="427555"/>
                  <a:pt x="18288" y="698798"/>
                </a:cubicBezTo>
                <a:cubicBezTo>
                  <a:pt x="32963" y="970041"/>
                  <a:pt x="19680" y="1226199"/>
                  <a:pt x="18288" y="1397595"/>
                </a:cubicBezTo>
                <a:cubicBezTo>
                  <a:pt x="16896" y="1568991"/>
                  <a:pt x="38798" y="1794517"/>
                  <a:pt x="18288" y="2152297"/>
                </a:cubicBezTo>
                <a:cubicBezTo>
                  <a:pt x="-2222" y="2510077"/>
                  <a:pt x="40846" y="2594424"/>
                  <a:pt x="18288" y="2739287"/>
                </a:cubicBezTo>
                <a:cubicBezTo>
                  <a:pt x="-4270" y="2884150"/>
                  <a:pt x="27117" y="3129706"/>
                  <a:pt x="18288" y="3493988"/>
                </a:cubicBezTo>
                <a:cubicBezTo>
                  <a:pt x="9459" y="3858270"/>
                  <a:pt x="54201" y="4041447"/>
                  <a:pt x="18288" y="4304593"/>
                </a:cubicBezTo>
                <a:cubicBezTo>
                  <a:pt x="-17625" y="4567740"/>
                  <a:pt x="49627" y="5149125"/>
                  <a:pt x="18288" y="5590381"/>
                </a:cubicBezTo>
                <a:cubicBezTo>
                  <a:pt x="10860" y="5590744"/>
                  <a:pt x="7568" y="5590157"/>
                  <a:pt x="0" y="5590381"/>
                </a:cubicBezTo>
                <a:cubicBezTo>
                  <a:pt x="36767" y="5266821"/>
                  <a:pt x="-16223" y="5116146"/>
                  <a:pt x="0" y="4835680"/>
                </a:cubicBezTo>
                <a:cubicBezTo>
                  <a:pt x="16223" y="4555214"/>
                  <a:pt x="-16316" y="4356490"/>
                  <a:pt x="0" y="4136882"/>
                </a:cubicBezTo>
                <a:cubicBezTo>
                  <a:pt x="16316" y="3917274"/>
                  <a:pt x="8005" y="3773465"/>
                  <a:pt x="0" y="3549892"/>
                </a:cubicBezTo>
                <a:cubicBezTo>
                  <a:pt x="-8005" y="3326319"/>
                  <a:pt x="27623" y="3052456"/>
                  <a:pt x="0" y="2851094"/>
                </a:cubicBezTo>
                <a:cubicBezTo>
                  <a:pt x="-27623" y="2649732"/>
                  <a:pt x="5614" y="2455815"/>
                  <a:pt x="0" y="2264104"/>
                </a:cubicBezTo>
                <a:cubicBezTo>
                  <a:pt x="-5614" y="2072393"/>
                  <a:pt x="22598" y="1990723"/>
                  <a:pt x="0" y="1733018"/>
                </a:cubicBezTo>
                <a:cubicBezTo>
                  <a:pt x="-22598" y="1475313"/>
                  <a:pt x="-6965" y="1369123"/>
                  <a:pt x="0" y="1090124"/>
                </a:cubicBezTo>
                <a:cubicBezTo>
                  <a:pt x="6965" y="811125"/>
                  <a:pt x="-19273" y="50704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3114097614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Content Placeholder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0B1842E-8E0F-006E-EDA2-88CF414C41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4296" y="1714752"/>
            <a:ext cx="7332021" cy="41307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79789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B1721BD-CBA3-2464-C732-5CFE2CA99D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anchor="b">
            <a:normAutofit/>
          </a:bodyPr>
          <a:lstStyle/>
          <a:p>
            <a:r>
              <a:rPr lang="en-US" sz="2600"/>
              <a:t>Илустровани пример I - Утицај индекса на JOIN филтрирање </a:t>
            </a:r>
          </a:p>
        </p:txBody>
      </p:sp>
      <p:sp>
        <p:nvSpPr>
          <p:cNvPr id="14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F30233-BE2A-E90E-23CC-75A482C3D9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807208"/>
            <a:ext cx="3429000" cy="341071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200"/>
              <a:t>Креира се парцијални индекс на колону </a:t>
            </a:r>
            <a:r>
              <a:rPr lang="en-US" sz="2200" i="1">
                <a:ea typeface="+mn-lt"/>
                <a:cs typeface="+mn-lt"/>
              </a:rPr>
              <a:t>„titleType”. </a:t>
            </a:r>
          </a:p>
          <a:p>
            <a:r>
              <a:rPr lang="en-US" sz="2200" dirty="0" err="1"/>
              <a:t>Поновно</a:t>
            </a:r>
            <a:r>
              <a:rPr lang="en-US" sz="2200" dirty="0"/>
              <a:t> </a:t>
            </a:r>
            <a:r>
              <a:rPr lang="en-US" sz="2200" dirty="0" err="1"/>
              <a:t>извршавање</a:t>
            </a:r>
            <a:r>
              <a:rPr lang="en-US" sz="2200" dirty="0"/>
              <a:t> </a:t>
            </a:r>
            <a:r>
              <a:rPr lang="en-US" sz="2200" dirty="0" err="1"/>
              <a:t>упита</a:t>
            </a:r>
            <a:r>
              <a:rPr lang="en-US" sz="2200" dirty="0"/>
              <a:t> </a:t>
            </a:r>
            <a:r>
              <a:rPr lang="en-US" sz="2200" dirty="0" err="1"/>
              <a:t>добија</a:t>
            </a:r>
            <a:r>
              <a:rPr lang="en-US" sz="2200" dirty="0"/>
              <a:t> </a:t>
            </a:r>
            <a:r>
              <a:rPr lang="en-US" sz="2200" dirty="0" err="1"/>
              <a:t>се</a:t>
            </a:r>
            <a:r>
              <a:rPr lang="en-US" sz="2200" dirty="0"/>
              <a:t> </a:t>
            </a:r>
            <a:r>
              <a:rPr lang="en-US" sz="2200" dirty="0" err="1"/>
              <a:t>следећи</a:t>
            </a:r>
            <a:r>
              <a:rPr lang="en-US" sz="2200" dirty="0"/>
              <a:t> </a:t>
            </a:r>
            <a:r>
              <a:rPr lang="en-US" sz="2200" dirty="0" err="1"/>
              <a:t>резултат</a:t>
            </a:r>
            <a:r>
              <a:rPr lang="en-US" sz="2200" dirty="0"/>
              <a:t>.</a:t>
            </a:r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CA69C82-739F-C1B9-7402-FF912BDBB4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4296" y="2030997"/>
            <a:ext cx="6903720" cy="2796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83604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64DC2AE-2EB5-FF12-111E-F8E2E95174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E418A133-9E94-8FEA-EA35-A8757185FB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155518B-49AE-D355-3858-42AB2AF907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anchor="b">
            <a:normAutofit/>
          </a:bodyPr>
          <a:lstStyle/>
          <a:p>
            <a:r>
              <a:rPr lang="en-US" sz="2600" dirty="0" err="1"/>
              <a:t>Илустровани</a:t>
            </a:r>
            <a:r>
              <a:rPr lang="en-US" sz="2600" dirty="0"/>
              <a:t> </a:t>
            </a:r>
            <a:r>
              <a:rPr lang="en-US" sz="2600" dirty="0" err="1"/>
              <a:t>пример</a:t>
            </a:r>
            <a:r>
              <a:rPr lang="en-US" sz="2600" dirty="0"/>
              <a:t> I - </a:t>
            </a:r>
            <a:r>
              <a:rPr lang="en-US" sz="2600" dirty="0" err="1"/>
              <a:t>креирање</a:t>
            </a:r>
            <a:r>
              <a:rPr lang="en-US" sz="2600" dirty="0"/>
              <a:t> </a:t>
            </a:r>
            <a:r>
              <a:rPr lang="en-US" sz="2600" dirty="0" err="1"/>
              <a:t>индекса</a:t>
            </a:r>
            <a:r>
              <a:rPr lang="en-US" sz="2600" dirty="0"/>
              <a:t> </a:t>
            </a:r>
          </a:p>
        </p:txBody>
      </p:sp>
      <p:sp>
        <p:nvSpPr>
          <p:cNvPr id="14" name="sketch line">
            <a:extLst>
              <a:ext uri="{FF2B5EF4-FFF2-40B4-BE49-F238E27FC236}">
                <a16:creationId xmlns:a16="http://schemas.microsoft.com/office/drawing/2014/main" id="{E312ADA4-FF0D-7899-0797-3B71DA9A7A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BAE7C6-84D0-F00F-E9BF-33593B4FD8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807208"/>
            <a:ext cx="3429000" cy="341071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200"/>
              <a:t>Креира се парцијални индекс на колону </a:t>
            </a:r>
            <a:r>
              <a:rPr lang="en-US" sz="2200" i="1">
                <a:ea typeface="+mn-lt"/>
                <a:cs typeface="+mn-lt"/>
              </a:rPr>
              <a:t>„titleType”. </a:t>
            </a:r>
          </a:p>
          <a:p>
            <a:r>
              <a:rPr lang="en-US" sz="2200" dirty="0" err="1"/>
              <a:t>Поновно</a:t>
            </a:r>
            <a:r>
              <a:rPr lang="en-US" sz="2200" dirty="0"/>
              <a:t> </a:t>
            </a:r>
            <a:r>
              <a:rPr lang="en-US" sz="2200" dirty="0" err="1"/>
              <a:t>извршавање</a:t>
            </a:r>
            <a:r>
              <a:rPr lang="en-US" sz="2200" dirty="0"/>
              <a:t> </a:t>
            </a:r>
            <a:r>
              <a:rPr lang="en-US" sz="2200" dirty="0" err="1"/>
              <a:t>упита</a:t>
            </a:r>
            <a:r>
              <a:rPr lang="en-US" sz="2200" dirty="0"/>
              <a:t> </a:t>
            </a:r>
            <a:r>
              <a:rPr lang="en-US" sz="2200" dirty="0" err="1"/>
              <a:t>добија</a:t>
            </a:r>
            <a:r>
              <a:rPr lang="en-US" sz="2200" dirty="0"/>
              <a:t> </a:t>
            </a:r>
            <a:r>
              <a:rPr lang="en-US" sz="2200" dirty="0" err="1"/>
              <a:t>се</a:t>
            </a:r>
            <a:r>
              <a:rPr lang="en-US" sz="2200" dirty="0"/>
              <a:t> </a:t>
            </a:r>
            <a:r>
              <a:rPr lang="en-US" sz="2200" dirty="0" err="1"/>
              <a:t>следећи</a:t>
            </a:r>
            <a:r>
              <a:rPr lang="en-US" sz="2200" dirty="0"/>
              <a:t> </a:t>
            </a:r>
            <a:r>
              <a:rPr lang="en-US" sz="2200" dirty="0" err="1"/>
              <a:t>резултат</a:t>
            </a:r>
            <a:r>
              <a:rPr lang="en-US" sz="2200" dirty="0"/>
              <a:t>.</a:t>
            </a:r>
          </a:p>
        </p:txBody>
      </p:sp>
      <p:pic>
        <p:nvPicPr>
          <p:cNvPr id="5" name="Picture 4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A7A6CEAB-E097-B281-9FD8-D69BAAB5CA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3253" y="1717843"/>
            <a:ext cx="6607919" cy="35601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790527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1ED99BE-FD8A-6D12-11D0-EE14DC2E06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05187447-AF32-E0E7-32CF-66958C170C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2F49E60-A633-AB79-C959-76DAB8A92D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anchor="b">
            <a:normAutofit/>
          </a:bodyPr>
          <a:lstStyle/>
          <a:p>
            <a:r>
              <a:rPr lang="en-US" sz="2600" dirty="0" err="1"/>
              <a:t>Илустровани</a:t>
            </a:r>
            <a:r>
              <a:rPr lang="en-US" sz="2600" dirty="0"/>
              <a:t> </a:t>
            </a:r>
            <a:r>
              <a:rPr lang="en-US" sz="2600" dirty="0" err="1"/>
              <a:t>пример</a:t>
            </a:r>
            <a:r>
              <a:rPr lang="en-US" sz="2600" dirty="0"/>
              <a:t> I - </a:t>
            </a:r>
            <a:r>
              <a:rPr lang="en-US" sz="2600" dirty="0" err="1"/>
              <a:t>Оптимизовани</a:t>
            </a:r>
            <a:r>
              <a:rPr lang="en-US" sz="2600" dirty="0"/>
              <a:t>  </a:t>
            </a:r>
            <a:r>
              <a:rPr lang="en-US" sz="2600" dirty="0" err="1"/>
              <a:t>план</a:t>
            </a:r>
            <a:r>
              <a:rPr lang="en-US" sz="2600" dirty="0"/>
              <a:t> </a:t>
            </a:r>
            <a:r>
              <a:rPr lang="en-US" sz="2600" dirty="0" err="1"/>
              <a:t>извршења</a:t>
            </a:r>
            <a:r>
              <a:rPr lang="en-US" sz="2600" dirty="0"/>
              <a:t> </a:t>
            </a:r>
          </a:p>
        </p:txBody>
      </p:sp>
      <p:sp>
        <p:nvSpPr>
          <p:cNvPr id="14" name="sketch line">
            <a:extLst>
              <a:ext uri="{FF2B5EF4-FFF2-40B4-BE49-F238E27FC236}">
                <a16:creationId xmlns:a16="http://schemas.microsoft.com/office/drawing/2014/main" id="{34A39C06-9E54-6F4A-6D96-EFF3DCB28B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6CE6B9-725C-123E-D909-59E0564EE2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807208"/>
            <a:ext cx="3429000" cy="341071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200" dirty="0" err="1"/>
              <a:t>Време</a:t>
            </a:r>
            <a:r>
              <a:rPr lang="en-US" sz="2200" dirty="0"/>
              <a:t> </a:t>
            </a:r>
            <a:r>
              <a:rPr lang="en-US" sz="2200" dirty="0" err="1"/>
              <a:t>извршења</a:t>
            </a:r>
            <a:r>
              <a:rPr lang="en-US" sz="2200" dirty="0"/>
              <a:t> </a:t>
            </a:r>
            <a:r>
              <a:rPr lang="en-US" sz="2200" dirty="0" err="1"/>
              <a:t>је</a:t>
            </a:r>
            <a:r>
              <a:rPr lang="en-US" sz="2200" dirty="0"/>
              <a:t> 1.076 </a:t>
            </a:r>
            <a:r>
              <a:rPr lang="en-US" sz="2200" dirty="0" err="1"/>
              <a:t>секунди</a:t>
            </a:r>
            <a:r>
              <a:rPr lang="en-US" sz="2200" dirty="0"/>
              <a:t>. </a:t>
            </a:r>
            <a:endParaRPr lang="en-US" dirty="0"/>
          </a:p>
          <a:p>
            <a:r>
              <a:rPr lang="en-US" sz="2200" dirty="0" err="1"/>
              <a:t>Програм</a:t>
            </a:r>
            <a:r>
              <a:rPr lang="en-US" sz="2200" dirty="0"/>
              <a:t> </a:t>
            </a:r>
            <a:r>
              <a:rPr lang="en-US" sz="2200" dirty="0" err="1"/>
              <a:t>је</a:t>
            </a:r>
            <a:r>
              <a:rPr lang="en-US" sz="2200" dirty="0"/>
              <a:t> </a:t>
            </a:r>
            <a:r>
              <a:rPr lang="en-US" sz="2200" dirty="0" err="1"/>
              <a:t>убрзан</a:t>
            </a:r>
            <a:r>
              <a:rPr lang="en-US" sz="2200" dirty="0"/>
              <a:t> </a:t>
            </a:r>
            <a:r>
              <a:rPr lang="en-US" sz="2200" dirty="0" err="1"/>
              <a:t>за</a:t>
            </a:r>
            <a:r>
              <a:rPr lang="en-US" sz="2200" dirty="0"/>
              <a:t> 46.2%</a:t>
            </a:r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58F7F1A-413F-F31B-7F36-5EC80926DF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7721" y="1908528"/>
            <a:ext cx="7057158" cy="30479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248737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941CCCC-215A-2CD6-440C-D57E7796C2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42A8AD9A-705B-61DC-DFE6-04EC6CCF9E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5965750-8069-1A05-389A-36780816A8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anchor="b">
            <a:normAutofit/>
          </a:bodyPr>
          <a:lstStyle/>
          <a:p>
            <a:r>
              <a:rPr lang="en-US" sz="2600" dirty="0" err="1"/>
              <a:t>Илустровани</a:t>
            </a:r>
            <a:r>
              <a:rPr lang="en-US" sz="2600" dirty="0"/>
              <a:t> </a:t>
            </a:r>
            <a:r>
              <a:rPr lang="en-US" sz="2600" dirty="0" err="1"/>
              <a:t>пример</a:t>
            </a:r>
            <a:r>
              <a:rPr lang="en-US" sz="2600" dirty="0"/>
              <a:t> II</a:t>
            </a:r>
          </a:p>
        </p:txBody>
      </p:sp>
      <p:sp>
        <p:nvSpPr>
          <p:cNvPr id="14" name="sketch line">
            <a:extLst>
              <a:ext uri="{FF2B5EF4-FFF2-40B4-BE49-F238E27FC236}">
                <a16:creationId xmlns:a16="http://schemas.microsoft.com/office/drawing/2014/main" id="{163F4522-2A19-725F-EAB9-DDE81E1F47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0E2E9D-B9ED-B2B6-E976-099CFE8449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807208"/>
            <a:ext cx="3429000" cy="3410712"/>
          </a:xfrm>
        </p:spPr>
        <p:txBody>
          <a:bodyPr vert="horz" lIns="91440" tIns="45720" rIns="91440" bIns="45720" rtlCol="0" anchor="t">
            <a:normAutofit fontScale="92500"/>
          </a:bodyPr>
          <a:lstStyle/>
          <a:p>
            <a:r>
              <a:rPr lang="en-US" sz="2200" dirty="0" err="1"/>
              <a:t>Додаје</a:t>
            </a:r>
            <a:r>
              <a:rPr lang="en-US" sz="2200" dirty="0"/>
              <a:t> </a:t>
            </a:r>
            <a:r>
              <a:rPr lang="en-US" sz="2200" dirty="0" err="1"/>
              <a:t>се</a:t>
            </a:r>
            <a:r>
              <a:rPr lang="en-US" sz="2200" dirty="0"/>
              <a:t> </a:t>
            </a:r>
            <a:r>
              <a:rPr lang="en-US" sz="2200" dirty="0" err="1"/>
              <a:t>нова</a:t>
            </a:r>
            <a:r>
              <a:rPr lang="en-US" sz="2200" dirty="0"/>
              <a:t> </a:t>
            </a:r>
            <a:r>
              <a:rPr lang="en-US" sz="2200" dirty="0" err="1"/>
              <a:t>табела</a:t>
            </a:r>
            <a:r>
              <a:rPr lang="en-US" sz="2200" dirty="0"/>
              <a:t> </a:t>
            </a:r>
            <a:r>
              <a:rPr lang="en-US" sz="2200" dirty="0" err="1"/>
              <a:t>под</a:t>
            </a:r>
            <a:r>
              <a:rPr lang="en-US" sz="2200" dirty="0"/>
              <a:t> </a:t>
            </a:r>
            <a:r>
              <a:rPr lang="en-US" sz="2200" dirty="0" err="1"/>
              <a:t>називом</a:t>
            </a:r>
            <a:r>
              <a:rPr lang="en-US" sz="2200" dirty="0"/>
              <a:t> </a:t>
            </a:r>
            <a:r>
              <a:rPr lang="en-US" sz="2200" dirty="0">
                <a:ea typeface="+mn-lt"/>
                <a:cs typeface="+mn-lt"/>
              </a:rPr>
              <a:t>„”, </a:t>
            </a:r>
            <a:r>
              <a:rPr lang="en-US" sz="2200" dirty="0" err="1">
                <a:ea typeface="+mn-lt"/>
                <a:cs typeface="+mn-lt"/>
              </a:rPr>
              <a:t>која</a:t>
            </a:r>
            <a:r>
              <a:rPr lang="en-US" sz="2200" dirty="0">
                <a:ea typeface="+mn-lt"/>
                <a:cs typeface="+mn-lt"/>
              </a:rPr>
              <a:t> </a:t>
            </a:r>
            <a:r>
              <a:rPr lang="en-US" sz="2200" dirty="0" err="1">
                <a:ea typeface="+mn-lt"/>
                <a:cs typeface="+mn-lt"/>
              </a:rPr>
              <a:t>садржи</a:t>
            </a:r>
            <a:r>
              <a:rPr lang="en-US" sz="2200" dirty="0">
                <a:ea typeface="+mn-lt"/>
                <a:cs typeface="+mn-lt"/>
              </a:rPr>
              <a:t> </a:t>
            </a:r>
            <a:r>
              <a:rPr lang="en-US" sz="2200" dirty="0" err="1">
                <a:ea typeface="+mn-lt"/>
                <a:cs typeface="+mn-lt"/>
              </a:rPr>
              <a:t>податке</a:t>
            </a:r>
            <a:r>
              <a:rPr lang="en-US" sz="2200" dirty="0">
                <a:ea typeface="+mn-lt"/>
                <a:cs typeface="+mn-lt"/>
              </a:rPr>
              <a:t> о </a:t>
            </a:r>
            <a:r>
              <a:rPr lang="en-US" sz="2200" dirty="0" err="1">
                <a:ea typeface="+mn-lt"/>
                <a:cs typeface="+mn-lt"/>
              </a:rPr>
              <a:t>називу</a:t>
            </a:r>
            <a:r>
              <a:rPr lang="en-US" sz="2200" dirty="0">
                <a:ea typeface="+mn-lt"/>
                <a:cs typeface="+mn-lt"/>
              </a:rPr>
              <a:t> </a:t>
            </a:r>
            <a:r>
              <a:rPr lang="en-US" sz="2200" dirty="0" err="1">
                <a:ea typeface="+mn-lt"/>
                <a:cs typeface="+mn-lt"/>
              </a:rPr>
              <a:t>особља</a:t>
            </a:r>
            <a:r>
              <a:rPr lang="en-US" sz="2200" dirty="0">
                <a:ea typeface="+mn-lt"/>
                <a:cs typeface="+mn-lt"/>
              </a:rPr>
              <a:t> </a:t>
            </a:r>
            <a:r>
              <a:rPr lang="en-US" sz="2200" dirty="0" err="1">
                <a:ea typeface="+mn-lt"/>
                <a:cs typeface="+mn-lt"/>
              </a:rPr>
              <a:t>коју</a:t>
            </a:r>
            <a:r>
              <a:rPr lang="en-US" sz="2200" dirty="0">
                <a:ea typeface="+mn-lt"/>
                <a:cs typeface="+mn-lt"/>
              </a:rPr>
              <a:t> </a:t>
            </a:r>
            <a:r>
              <a:rPr lang="en-US" sz="2200" dirty="0" err="1">
                <a:ea typeface="+mn-lt"/>
                <a:cs typeface="+mn-lt"/>
              </a:rPr>
              <a:t>су</a:t>
            </a:r>
            <a:r>
              <a:rPr lang="en-US" sz="2200" dirty="0">
                <a:ea typeface="+mn-lt"/>
                <a:cs typeface="+mn-lt"/>
              </a:rPr>
              <a:t> </a:t>
            </a:r>
            <a:r>
              <a:rPr lang="en-US" sz="2200" dirty="0" err="1">
                <a:ea typeface="+mn-lt"/>
                <a:cs typeface="+mn-lt"/>
              </a:rPr>
              <a:t>учествовали</a:t>
            </a:r>
            <a:r>
              <a:rPr lang="en-US" sz="2200" dirty="0">
                <a:ea typeface="+mn-lt"/>
                <a:cs typeface="+mn-lt"/>
              </a:rPr>
              <a:t> у </a:t>
            </a:r>
            <a:r>
              <a:rPr lang="en-US" sz="2200" dirty="0" err="1">
                <a:ea typeface="+mn-lt"/>
                <a:cs typeface="+mn-lt"/>
              </a:rPr>
              <a:t>конкретном</a:t>
            </a:r>
            <a:r>
              <a:rPr lang="en-US" sz="2200" dirty="0">
                <a:ea typeface="+mn-lt"/>
                <a:cs typeface="+mn-lt"/>
              </a:rPr>
              <a:t> </a:t>
            </a:r>
            <a:r>
              <a:rPr lang="en-US" sz="2200" dirty="0" err="1">
                <a:ea typeface="+mn-lt"/>
                <a:cs typeface="+mn-lt"/>
              </a:rPr>
              <a:t>филму</a:t>
            </a:r>
            <a:r>
              <a:rPr lang="en-US" sz="2200" dirty="0">
                <a:ea typeface="+mn-lt"/>
                <a:cs typeface="+mn-lt"/>
              </a:rPr>
              <a:t>. </a:t>
            </a:r>
            <a:endParaRPr lang="en-US" dirty="0">
              <a:ea typeface="+mn-lt"/>
              <a:cs typeface="+mn-lt"/>
            </a:endParaRPr>
          </a:p>
          <a:p>
            <a:r>
              <a:rPr lang="en-US" sz="2200" err="1"/>
              <a:t>Неконзистентне</a:t>
            </a:r>
            <a:r>
              <a:rPr lang="en-US" sz="2200" dirty="0"/>
              <a:t> </a:t>
            </a:r>
            <a:r>
              <a:rPr lang="en-US" sz="2200" err="1"/>
              <a:t>податке</a:t>
            </a:r>
            <a:r>
              <a:rPr lang="en-US" sz="2200" dirty="0"/>
              <a:t> </a:t>
            </a:r>
            <a:r>
              <a:rPr lang="en-US" sz="2200" err="1"/>
              <a:t>је</a:t>
            </a:r>
            <a:r>
              <a:rPr lang="en-US" sz="2200" dirty="0"/>
              <a:t> </a:t>
            </a:r>
            <a:r>
              <a:rPr lang="en-US" sz="2200" err="1"/>
              <a:t>потребно</a:t>
            </a:r>
            <a:r>
              <a:rPr lang="en-US" sz="2200" dirty="0"/>
              <a:t> </a:t>
            </a:r>
            <a:r>
              <a:rPr lang="en-US" sz="2200" err="1"/>
              <a:t>избацити</a:t>
            </a:r>
            <a:r>
              <a:rPr lang="en-US" sz="2200" dirty="0"/>
              <a:t>.</a:t>
            </a:r>
          </a:p>
          <a:p>
            <a:r>
              <a:rPr lang="en-US" sz="2200" dirty="0" err="1"/>
              <a:t>Потребно</a:t>
            </a:r>
            <a:r>
              <a:rPr lang="en-US" sz="2200" dirty="0"/>
              <a:t> </a:t>
            </a:r>
            <a:r>
              <a:rPr lang="en-US" sz="2200" dirty="0" err="1"/>
              <a:t>је</a:t>
            </a:r>
            <a:r>
              <a:rPr lang="en-US" sz="2200" dirty="0"/>
              <a:t> </a:t>
            </a:r>
            <a:r>
              <a:rPr lang="en-US" sz="2200" dirty="0" err="1"/>
              <a:t>спојити</a:t>
            </a:r>
            <a:r>
              <a:rPr lang="en-US" sz="2200" dirty="0"/>
              <a:t> </a:t>
            </a:r>
            <a:r>
              <a:rPr lang="en-US" sz="2200" dirty="0" err="1"/>
              <a:t>табеле</a:t>
            </a:r>
            <a:r>
              <a:rPr lang="en-US" sz="2200" dirty="0"/>
              <a:t> </a:t>
            </a:r>
            <a:r>
              <a:rPr lang="en-US" sz="2200" dirty="0" err="1"/>
              <a:t>преко</a:t>
            </a:r>
            <a:r>
              <a:rPr lang="en-US" sz="2200" dirty="0"/>
              <a:t> </a:t>
            </a:r>
            <a:r>
              <a:rPr lang="en-US" sz="2200" dirty="0" err="1"/>
              <a:t>заједничког</a:t>
            </a:r>
            <a:r>
              <a:rPr lang="en-US" sz="2200" dirty="0"/>
              <a:t> </a:t>
            </a:r>
            <a:r>
              <a:rPr lang="en-US" sz="2200" dirty="0" err="1"/>
              <a:t>кључа</a:t>
            </a:r>
          </a:p>
        </p:txBody>
      </p:sp>
      <p:pic>
        <p:nvPicPr>
          <p:cNvPr id="5" name="Picture 4" descr="A white background with text&#10;&#10;AI-generated content may be incorrect.">
            <a:extLst>
              <a:ext uri="{FF2B5EF4-FFF2-40B4-BE49-F238E27FC236}">
                <a16:creationId xmlns:a16="http://schemas.microsoft.com/office/drawing/2014/main" id="{2432A030-2926-B4EA-E325-042E2A5737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5480" y="1505608"/>
            <a:ext cx="6308797" cy="2142842"/>
          </a:xfrm>
          <a:prstGeom prst="rect">
            <a:avLst/>
          </a:prstGeom>
        </p:spPr>
      </p:pic>
      <p:pic>
        <p:nvPicPr>
          <p:cNvPr id="6" name="Picture 5" descr="A close-up of a white background&#10;&#10;AI-generated content may be incorrect.">
            <a:extLst>
              <a:ext uri="{FF2B5EF4-FFF2-40B4-BE49-F238E27FC236}">
                <a16:creationId xmlns:a16="http://schemas.microsoft.com/office/drawing/2014/main" id="{A69E0DB8-10FE-0524-22A0-C8A3714A43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3984" y="4100916"/>
            <a:ext cx="6298609" cy="1910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090625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EE39493-C566-F18F-097D-1FF1497EC7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76915DD-73E9-9865-923F-8123AC17D3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080"/>
            <a:ext cx="4818888" cy="1481328"/>
          </a:xfrm>
        </p:spPr>
        <p:txBody>
          <a:bodyPr anchor="b">
            <a:normAutofit/>
          </a:bodyPr>
          <a:lstStyle/>
          <a:p>
            <a:r>
              <a:rPr lang="en-US" sz="3800"/>
              <a:t>Илустровани пример II - ЕR дијаграм и упит</a:t>
            </a:r>
          </a:p>
        </p:txBody>
      </p:sp>
      <p:sp>
        <p:nvSpPr>
          <p:cNvPr id="28" name="sketch line">
            <a:extLst>
              <a:ext uri="{FF2B5EF4-FFF2-40B4-BE49-F238E27FC236}">
                <a16:creationId xmlns:a16="http://schemas.microsoft.com/office/drawing/2014/main" id="{650D18FE-0824-4A46-B22C-A86B52E578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9BACF9-157B-F737-8E73-C54A87E559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660904"/>
            <a:ext cx="4818888" cy="354787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200"/>
              <a:t>Упит</a:t>
            </a:r>
            <a:r>
              <a:rPr lang="en-US" sz="2200" dirty="0"/>
              <a:t> </a:t>
            </a:r>
            <a:r>
              <a:rPr lang="en-US" sz="2200"/>
              <a:t>са</a:t>
            </a:r>
            <a:r>
              <a:rPr lang="en-US" sz="2200" dirty="0"/>
              <a:t> </a:t>
            </a:r>
            <a:r>
              <a:rPr lang="en-US" sz="2200"/>
              <a:t>претходнох</a:t>
            </a:r>
            <a:r>
              <a:rPr lang="en-US" sz="2200" dirty="0"/>
              <a:t> </a:t>
            </a:r>
            <a:r>
              <a:rPr lang="en-US" sz="2200"/>
              <a:t>слајда</a:t>
            </a:r>
            <a:r>
              <a:rPr lang="en-US" sz="2200" dirty="0"/>
              <a:t> </a:t>
            </a:r>
            <a:r>
              <a:rPr lang="en-US" sz="2200"/>
              <a:t>се</a:t>
            </a:r>
            <a:r>
              <a:rPr lang="en-US" sz="2200" dirty="0"/>
              <a:t> </a:t>
            </a:r>
            <a:r>
              <a:rPr lang="en-US" sz="2200"/>
              <a:t>извршава</a:t>
            </a:r>
            <a:r>
              <a:rPr lang="en-US" sz="2200" dirty="0"/>
              <a:t> </a:t>
            </a:r>
            <a:r>
              <a:rPr lang="en-US" sz="2200"/>
              <a:t>за</a:t>
            </a:r>
            <a:r>
              <a:rPr lang="en-US" sz="2200" dirty="0"/>
              <a:t> 25 </a:t>
            </a:r>
            <a:r>
              <a:rPr lang="en-US" sz="2200"/>
              <a:t>секунди</a:t>
            </a:r>
            <a:r>
              <a:rPr lang="en-US" sz="2200" dirty="0"/>
              <a:t>. </a:t>
            </a:r>
          </a:p>
          <a:p>
            <a:r>
              <a:rPr lang="en-US" sz="2200"/>
              <a:t>Једна</a:t>
            </a:r>
            <a:r>
              <a:rPr lang="en-US" sz="2200" dirty="0"/>
              <a:t> </a:t>
            </a:r>
            <a:r>
              <a:rPr lang="en-US" sz="2200"/>
              <a:t>од</a:t>
            </a:r>
            <a:r>
              <a:rPr lang="en-US" sz="2200" dirty="0"/>
              <a:t> </a:t>
            </a:r>
            <a:r>
              <a:rPr lang="en-US" sz="2200"/>
              <a:t>могућих</a:t>
            </a:r>
            <a:r>
              <a:rPr lang="en-US" sz="2200" dirty="0"/>
              <a:t> </a:t>
            </a:r>
            <a:r>
              <a:rPr lang="en-US" sz="2200"/>
              <a:t>оптимизација</a:t>
            </a:r>
            <a:r>
              <a:rPr lang="en-US" sz="2200" dirty="0"/>
              <a:t> </a:t>
            </a:r>
            <a:r>
              <a:rPr lang="en-US" sz="2200"/>
              <a:t>јесте</a:t>
            </a:r>
            <a:r>
              <a:rPr lang="en-US" sz="2200" dirty="0"/>
              <a:t> </a:t>
            </a:r>
            <a:r>
              <a:rPr lang="en-US" sz="2200"/>
              <a:t>додавање</a:t>
            </a:r>
            <a:r>
              <a:rPr lang="en-US" sz="2200" dirty="0"/>
              <a:t> </a:t>
            </a:r>
            <a:r>
              <a:rPr lang="en-US" sz="2200"/>
              <a:t>индекса</a:t>
            </a:r>
            <a:r>
              <a:rPr lang="en-US" sz="2200" dirty="0"/>
              <a:t> </a:t>
            </a:r>
            <a:r>
              <a:rPr lang="en-US" sz="2200"/>
              <a:t>над</a:t>
            </a:r>
            <a:r>
              <a:rPr lang="en-US" sz="2200" dirty="0"/>
              <a:t> </a:t>
            </a:r>
            <a:r>
              <a:rPr lang="en-US" sz="2200"/>
              <a:t>колонама</a:t>
            </a:r>
            <a:r>
              <a:rPr lang="en-US" sz="2200" dirty="0"/>
              <a:t> </a:t>
            </a:r>
            <a:r>
              <a:rPr lang="en-US" sz="2200"/>
              <a:t>оцена</a:t>
            </a:r>
            <a:r>
              <a:rPr lang="en-US" sz="2200" dirty="0"/>
              <a:t>, </a:t>
            </a:r>
            <a:r>
              <a:rPr lang="en-US" sz="2200"/>
              <a:t>типа</a:t>
            </a:r>
            <a:r>
              <a:rPr lang="en-US" sz="2200" dirty="0"/>
              <a:t> </a:t>
            </a:r>
            <a:r>
              <a:rPr lang="en-US" sz="2200"/>
              <a:t>филма</a:t>
            </a:r>
            <a:r>
              <a:rPr lang="en-US" sz="2200" dirty="0"/>
              <a:t>, </a:t>
            </a:r>
            <a:r>
              <a:rPr lang="en-US" sz="2200"/>
              <a:t>као</a:t>
            </a:r>
            <a:r>
              <a:rPr lang="en-US" sz="2200" dirty="0"/>
              <a:t> и </a:t>
            </a:r>
            <a:r>
              <a:rPr lang="en-US" sz="2200"/>
              <a:t>професију</a:t>
            </a:r>
            <a:r>
              <a:rPr lang="en-US" sz="2200" dirty="0"/>
              <a:t> </a:t>
            </a:r>
            <a:r>
              <a:rPr lang="en-US" sz="2200"/>
              <a:t>глумца</a:t>
            </a:r>
            <a:r>
              <a:rPr lang="en-US" sz="2200" dirty="0"/>
              <a:t>. </a:t>
            </a:r>
          </a:p>
        </p:txBody>
      </p:sp>
      <p:pic>
        <p:nvPicPr>
          <p:cNvPr id="8" name="Picture 7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0FD78577-9E93-E2CA-F72B-21D7B2E91B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9048" y="664965"/>
            <a:ext cx="5458968" cy="55280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736156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39F65EE-8F83-5A89-9D7D-6CAB1C07ED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B976B64-D1DF-A796-E670-0562F99C15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anchor="b">
            <a:normAutofit/>
          </a:bodyPr>
          <a:lstStyle/>
          <a:p>
            <a:r>
              <a:rPr lang="en-US" sz="2600"/>
              <a:t>Илустровани пример II - Оптимизовани план извршења </a:t>
            </a:r>
          </a:p>
        </p:txBody>
      </p:sp>
      <p:sp>
        <p:nvSpPr>
          <p:cNvPr id="28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ADB859-8AAC-F625-C527-DD1DF99BE5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807208"/>
            <a:ext cx="3429000" cy="341071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200" dirty="0" err="1"/>
              <a:t>Поновно</a:t>
            </a:r>
            <a:r>
              <a:rPr lang="en-US" sz="2200" dirty="0"/>
              <a:t> </a:t>
            </a:r>
            <a:r>
              <a:rPr lang="en-US" sz="2200" dirty="0" err="1"/>
              <a:t>извршавање</a:t>
            </a:r>
            <a:r>
              <a:rPr lang="en-US" sz="2200" dirty="0"/>
              <a:t> </a:t>
            </a:r>
            <a:r>
              <a:rPr lang="en-US" sz="2200" dirty="0" err="1"/>
              <a:t>упита</a:t>
            </a:r>
            <a:r>
              <a:rPr lang="en-US" sz="2200" dirty="0"/>
              <a:t> </a:t>
            </a:r>
            <a:r>
              <a:rPr lang="en-US" sz="2200" dirty="0" err="1"/>
              <a:t>драстично</a:t>
            </a:r>
            <a:r>
              <a:rPr lang="en-US" sz="2200" dirty="0"/>
              <a:t> </a:t>
            </a:r>
            <a:r>
              <a:rPr lang="en-US" sz="2200" dirty="0" err="1"/>
              <a:t>убрзава</a:t>
            </a:r>
            <a:r>
              <a:rPr lang="en-US" sz="2200" dirty="0"/>
              <a:t> </a:t>
            </a:r>
            <a:r>
              <a:rPr lang="en-US" sz="2200" dirty="0" err="1"/>
              <a:t>време</a:t>
            </a:r>
            <a:r>
              <a:rPr lang="en-US" sz="2200" dirty="0"/>
              <a:t> </a:t>
            </a:r>
            <a:r>
              <a:rPr lang="en-US" sz="2200" dirty="0" err="1"/>
              <a:t>извршења</a:t>
            </a:r>
            <a:r>
              <a:rPr lang="en-US" sz="2200" dirty="0"/>
              <a:t>, </a:t>
            </a:r>
            <a:r>
              <a:rPr lang="en-US" sz="2200" dirty="0" err="1"/>
              <a:t>са</a:t>
            </a:r>
            <a:r>
              <a:rPr lang="en-US" sz="2200" dirty="0"/>
              <a:t> 25 </a:t>
            </a:r>
            <a:r>
              <a:rPr lang="en-US" sz="2200" dirty="0" err="1"/>
              <a:t>секунди</a:t>
            </a:r>
            <a:r>
              <a:rPr lang="en-US" sz="2200" dirty="0"/>
              <a:t> </a:t>
            </a:r>
            <a:r>
              <a:rPr lang="en-US" sz="2200" dirty="0" err="1"/>
              <a:t>на</a:t>
            </a:r>
            <a:r>
              <a:rPr lang="en-US" sz="2200" dirty="0"/>
              <a:t> 3 </a:t>
            </a:r>
            <a:r>
              <a:rPr lang="en-US" sz="2200" dirty="0" err="1"/>
              <a:t>секунде</a:t>
            </a:r>
            <a:r>
              <a:rPr lang="en-US" sz="2200" dirty="0"/>
              <a:t>. </a:t>
            </a:r>
            <a:r>
              <a:rPr lang="en-US" sz="2200" dirty="0" err="1"/>
              <a:t>Што</a:t>
            </a:r>
            <a:r>
              <a:rPr lang="en-US" sz="2200" dirty="0"/>
              <a:t> </a:t>
            </a:r>
            <a:r>
              <a:rPr lang="en-US" sz="2200" dirty="0" err="1"/>
              <a:t>износи</a:t>
            </a:r>
            <a:r>
              <a:rPr lang="en-US" sz="2200" dirty="0"/>
              <a:t> 88%.</a:t>
            </a:r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287D225-DF71-83BD-5DE9-5317434CF7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5940" y="640080"/>
            <a:ext cx="6180432" cy="5577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00045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20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1" baseType="lpstr">
      <vt:lpstr>office theme</vt:lpstr>
      <vt:lpstr>Оптимизација упита код PostgreSQL базе података</vt:lpstr>
      <vt:lpstr>Увод</vt:lpstr>
      <vt:lpstr>Full Scan</vt:lpstr>
      <vt:lpstr>Index-Based</vt:lpstr>
      <vt:lpstr>Поређење алгоритма</vt:lpstr>
      <vt:lpstr>Структура индекса</vt:lpstr>
      <vt:lpstr>Анализа B-Tree структуре</vt:lpstr>
      <vt:lpstr>Помоћне структуре - Битмапа</vt:lpstr>
      <vt:lpstr>Алгоритми за спајање табела </vt:lpstr>
      <vt:lpstr>Алгоритми за спајање табела - Hash</vt:lpstr>
      <vt:lpstr>Алгоритми за спајање табела - Merge</vt:lpstr>
      <vt:lpstr>Практични део - Увод</vt:lpstr>
      <vt:lpstr>Илустровани пример - I</vt:lpstr>
      <vt:lpstr>Илустровани пример I - Наставак</vt:lpstr>
      <vt:lpstr>Илустровани пример I - Утицај индекса на JOIN филтрирање </vt:lpstr>
      <vt:lpstr>Илустровани пример I - креирање индекса </vt:lpstr>
      <vt:lpstr>Илустровани пример I - Оптимизовани  план извршења </vt:lpstr>
      <vt:lpstr>Илустровани пример II</vt:lpstr>
      <vt:lpstr>Илустровани пример II - ЕR дијаграм и упит</vt:lpstr>
      <vt:lpstr>Илустровани пример II - Оптимизовани план извршења 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 </cp:lastModifiedBy>
  <cp:revision>302</cp:revision>
  <dcterms:created xsi:type="dcterms:W3CDTF">2013-07-15T20:26:40Z</dcterms:created>
  <dcterms:modified xsi:type="dcterms:W3CDTF">2026-01-19T15:34:14Z</dcterms:modified>
</cp:coreProperties>
</file>
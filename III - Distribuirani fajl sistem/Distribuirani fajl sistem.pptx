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9" r:id="rId5"/>
    <p:sldId id="27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405B26-6768-45C0-C780-E4C851F71895}" v="964" dt="2026-01-19T11:40:54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Дистрибуирани</a:t>
            </a:r>
            <a:r>
              <a:rPr lang="en-US" dirty="0"/>
              <a:t> </a:t>
            </a:r>
            <a:r>
              <a:rPr lang="en-US" dirty="0" err="1"/>
              <a:t>фајл</a:t>
            </a:r>
            <a:r>
              <a:rPr lang="en-US" dirty="0"/>
              <a:t> </a:t>
            </a:r>
            <a:r>
              <a:rPr lang="en-US" dirty="0" err="1"/>
              <a:t>систем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90034" y="5636231"/>
            <a:ext cx="5470358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err="1"/>
              <a:t>Студент</a:t>
            </a:r>
            <a:r>
              <a:rPr lang="en-US" sz="1800" dirty="0"/>
              <a:t>: </a:t>
            </a:r>
            <a:r>
              <a:rPr lang="en-US" sz="1800" err="1"/>
              <a:t>Петар</a:t>
            </a:r>
            <a:r>
              <a:rPr lang="en-US" sz="1800" dirty="0"/>
              <a:t> </a:t>
            </a:r>
            <a:r>
              <a:rPr lang="en-US" sz="1800" err="1"/>
              <a:t>Коматина</a:t>
            </a:r>
            <a:r>
              <a:rPr lang="en-US" sz="1800" dirty="0"/>
              <a:t> 1932</a:t>
            </a:r>
            <a:r>
              <a:rPr lang="en-US" dirty="0"/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83844-7E1F-6376-E45C-87699EFCA5C2}"/>
              </a:ext>
            </a:extLst>
          </p:cNvPr>
          <p:cNvSpPr txBox="1"/>
          <p:nvPr/>
        </p:nvSpPr>
        <p:spPr>
          <a:xfrm>
            <a:off x="6202682" y="5634261"/>
            <a:ext cx="58826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Професор</a:t>
            </a:r>
            <a:r>
              <a:rPr lang="en-US" dirty="0"/>
              <a:t>: </a:t>
            </a:r>
            <a:r>
              <a:rPr lang="en-US" dirty="0" err="1"/>
              <a:t>Проф</a:t>
            </a:r>
            <a:r>
              <a:rPr lang="en-US" dirty="0"/>
              <a:t>. </a:t>
            </a:r>
            <a:r>
              <a:rPr lang="en-US" dirty="0" err="1"/>
              <a:t>Др</a:t>
            </a:r>
            <a:r>
              <a:rPr lang="en-US" dirty="0"/>
              <a:t>. </a:t>
            </a:r>
            <a:r>
              <a:rPr lang="en-US" dirty="0" err="1"/>
              <a:t>Александар</a:t>
            </a:r>
            <a:r>
              <a:rPr lang="en-US" dirty="0"/>
              <a:t> </a:t>
            </a:r>
            <a:r>
              <a:rPr lang="en-US" dirty="0" err="1"/>
              <a:t>Станимировић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3E0C-485E-586C-67EA-E2C982CF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645757" cy="1342686"/>
          </a:xfrm>
        </p:spPr>
        <p:txBody>
          <a:bodyPr/>
          <a:lstStyle/>
          <a:p>
            <a:r>
              <a:rPr lang="en-US" dirty="0" err="1"/>
              <a:t>Конкурентно</a:t>
            </a:r>
            <a:r>
              <a:rPr lang="en-US" dirty="0"/>
              <a:t> </a:t>
            </a:r>
            <a:r>
              <a:rPr lang="en-US" dirty="0" err="1"/>
              <a:t>извршавање</a:t>
            </a:r>
            <a:r>
              <a:rPr lang="en-US" dirty="0"/>
              <a:t> и </a:t>
            </a:r>
            <a:r>
              <a:rPr lang="en-US" dirty="0" err="1"/>
              <a:t>дељена</a:t>
            </a:r>
            <a:r>
              <a:rPr lang="en-US" dirty="0"/>
              <a:t> </a:t>
            </a:r>
            <a:r>
              <a:rPr lang="en-US" dirty="0" err="1"/>
              <a:t>меморија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1A9074-553C-7747-C8B7-C2F7E0BD5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662" y="1891506"/>
            <a:ext cx="692467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22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CD832-FF32-3BF0-CC67-998B087A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chemeClr val="bg1"/>
                </a:solidFill>
              </a:rPr>
              <a:t>Конкурентно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извршавање</a:t>
            </a:r>
            <a:r>
              <a:rPr lang="en-US" sz="4000" dirty="0">
                <a:solidFill>
                  <a:schemeClr val="bg1"/>
                </a:solidFill>
              </a:rPr>
              <a:t> и </a:t>
            </a:r>
            <a:r>
              <a:rPr lang="en-US" sz="4000" dirty="0" err="1">
                <a:solidFill>
                  <a:schemeClr val="bg1"/>
                </a:solidFill>
              </a:rPr>
              <a:t>дељена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меморија</a:t>
            </a:r>
            <a:endParaRPr lang="en-US" dirty="0" err="1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83DC2-779C-2120-6025-BF7A3020F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0928" y="316445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 err="1">
                <a:latin typeface="Calibri"/>
                <a:ea typeface="Calibri"/>
                <a:cs typeface="Calibri"/>
              </a:rPr>
              <a:t>Конкуретно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извшавање</a:t>
            </a:r>
            <a:r>
              <a:rPr lang="en-US" sz="2400" dirty="0">
                <a:latin typeface="Calibri"/>
                <a:ea typeface="Calibri"/>
                <a:cs typeface="Calibri"/>
              </a:rPr>
              <a:t> - У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било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ком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моменту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извршења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само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једна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операције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се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извршава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истовремено</a:t>
            </a:r>
            <a:r>
              <a:rPr lang="en-US" sz="2400" dirty="0"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Паралелно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извршавање</a:t>
            </a:r>
            <a:r>
              <a:rPr lang="en-US" sz="2400" dirty="0">
                <a:latin typeface="Calibri"/>
                <a:ea typeface="Calibri"/>
                <a:cs typeface="Calibri"/>
              </a:rPr>
              <a:t> -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Истовремено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извршавање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операција</a:t>
            </a:r>
            <a:r>
              <a:rPr lang="en-US" sz="240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latin typeface="Calibri"/>
                <a:ea typeface="Calibri"/>
                <a:cs typeface="Calibri"/>
              </a:rPr>
              <a:t>Мрежна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 err="1">
                <a:latin typeface="Calibri"/>
                <a:ea typeface="Calibri"/>
                <a:cs typeface="Calibri"/>
              </a:rPr>
              <a:t>партиција</a:t>
            </a:r>
            <a:r>
              <a:rPr lang="en-US" sz="2400" dirty="0">
                <a:latin typeface="Calibri"/>
                <a:ea typeface="Calibri"/>
                <a:cs typeface="Calibri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latin typeface="Calibri"/>
                <a:ea typeface="Calibri"/>
                <a:cs typeface="Calibri"/>
              </a:rPr>
              <a:t>Техника</a:t>
            </a:r>
            <a:r>
              <a:rPr lang="en-US" sz="2400" dirty="0">
                <a:latin typeface="Calibri"/>
                <a:ea typeface="Calibri"/>
                <a:cs typeface="Calibri"/>
              </a:rPr>
              <a:t> „backoff”.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 err="1">
                <a:latin typeface="Calibri"/>
                <a:ea typeface="Calibri"/>
                <a:cs typeface="Calibri"/>
              </a:rPr>
              <a:t>Tехника</a:t>
            </a:r>
            <a:r>
              <a:rPr lang="en-US" sz="2400" dirty="0">
                <a:latin typeface="Calibri"/>
                <a:ea typeface="Calibri"/>
                <a:cs typeface="Calibri"/>
              </a:rPr>
              <a:t> „jitter”.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0398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70B79-8FAF-2FCC-E713-EAF7F80B3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442" y="310011"/>
            <a:ext cx="6819917" cy="1549846"/>
          </a:xfrm>
        </p:spPr>
        <p:txBody>
          <a:bodyPr anchor="ctr">
            <a:normAutofit/>
          </a:bodyPr>
          <a:lstStyle/>
          <a:p>
            <a:r>
              <a:rPr lang="en-US"/>
              <a:t>Проблем</a:t>
            </a:r>
            <a:r>
              <a:rPr lang="en-US" dirty="0"/>
              <a:t> </a:t>
            </a:r>
            <a:r>
              <a:rPr lang="en-US"/>
              <a:t>два</a:t>
            </a:r>
            <a:r>
              <a:rPr lang="en-US" dirty="0"/>
              <a:t> </a:t>
            </a:r>
            <a:r>
              <a:rPr lang="en-US"/>
              <a:t>генерала</a:t>
            </a:r>
          </a:p>
        </p:txBody>
      </p:sp>
      <p:pic>
        <p:nvPicPr>
          <p:cNvPr id="4" name="Content Placeholder 3" descr="A diagram of a city&#10;&#10;AI-generated content may be incorrect.">
            <a:extLst>
              <a:ext uri="{FF2B5EF4-FFF2-40B4-BE49-F238E27FC236}">
                <a16:creationId xmlns:a16="http://schemas.microsoft.com/office/drawing/2014/main" id="{73564186-E49F-6819-6846-7E30CFB7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69153"/>
            <a:ext cx="10917936" cy="360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8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4AB76-8C23-5D68-C545-0E4FA3DF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9F4D71-3405-EAFA-D5DF-91469760D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8C7AA8A-2DB9-8B72-0B25-2D72D308B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D4D4D6-9FC1-893C-6826-F1F652C5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rgbClr val="FFFFFF"/>
                </a:solidFill>
              </a:rPr>
              <a:t>FLP Немогућност и модели отказа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BAC6F08-22A1-91FC-9CAD-DB6ED7E9B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484BF-8480-2F36-4D93-957DF5383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err="1"/>
              <a:t>Сваки</a:t>
            </a:r>
            <a:r>
              <a:rPr lang="en-US" sz="2600"/>
              <a:t> </a:t>
            </a:r>
            <a:r>
              <a:rPr lang="en-US" sz="2600" err="1"/>
              <a:t>процес</a:t>
            </a:r>
            <a:r>
              <a:rPr lang="en-US" sz="2600"/>
              <a:t> </a:t>
            </a:r>
            <a:r>
              <a:rPr lang="en-US" sz="2600" err="1"/>
              <a:t>почиње</a:t>
            </a:r>
            <a:r>
              <a:rPr lang="en-US" sz="2600"/>
              <a:t> </a:t>
            </a:r>
            <a:r>
              <a:rPr lang="en-US" sz="2600" err="1"/>
              <a:t>са</a:t>
            </a:r>
            <a:r>
              <a:rPr lang="en-US" sz="2600"/>
              <a:t> </a:t>
            </a:r>
            <a:r>
              <a:rPr lang="en-US" sz="2600" err="1"/>
              <a:t>почетном</a:t>
            </a:r>
            <a:r>
              <a:rPr lang="en-US" sz="2600"/>
              <a:t> </a:t>
            </a:r>
            <a:r>
              <a:rPr lang="en-US" sz="2600" err="1"/>
              <a:t>вредношћу</a:t>
            </a:r>
            <a:r>
              <a:rPr lang="en-US" sz="2600"/>
              <a:t>, а </a:t>
            </a:r>
            <a:r>
              <a:rPr lang="en-US" sz="2600" err="1"/>
              <a:t>циљ</a:t>
            </a:r>
            <a:r>
              <a:rPr lang="en-US" sz="2600"/>
              <a:t> </a:t>
            </a:r>
            <a:r>
              <a:rPr lang="en-US" sz="2600" err="1"/>
              <a:t>система</a:t>
            </a:r>
            <a:r>
              <a:rPr lang="en-US" sz="2600"/>
              <a:t> </a:t>
            </a:r>
            <a:r>
              <a:rPr lang="en-US" sz="2600" err="1"/>
              <a:t>је</a:t>
            </a:r>
            <a:r>
              <a:rPr lang="en-US" sz="2600"/>
              <a:t> </a:t>
            </a:r>
            <a:r>
              <a:rPr lang="en-US" sz="2600" err="1"/>
              <a:t>да</a:t>
            </a:r>
            <a:r>
              <a:rPr lang="en-US" sz="2600"/>
              <a:t> </a:t>
            </a:r>
            <a:r>
              <a:rPr lang="en-US" sz="2600" err="1"/>
              <a:t>сви</a:t>
            </a:r>
            <a:r>
              <a:rPr lang="en-US" sz="2600"/>
              <a:t> </a:t>
            </a:r>
            <a:r>
              <a:rPr lang="en-US" sz="2600" err="1"/>
              <a:t>исправни</a:t>
            </a:r>
            <a:r>
              <a:rPr lang="en-US" sz="2600"/>
              <a:t> </a:t>
            </a:r>
            <a:r>
              <a:rPr lang="en-US" sz="2600" err="1"/>
              <a:t>процеси</a:t>
            </a:r>
            <a:r>
              <a:rPr lang="en-US" sz="2600"/>
              <a:t> </a:t>
            </a:r>
            <a:r>
              <a:rPr lang="en-US" sz="2600" err="1"/>
              <a:t>донесу</a:t>
            </a:r>
            <a:r>
              <a:rPr lang="en-US" sz="2600"/>
              <a:t> </a:t>
            </a:r>
            <a:r>
              <a:rPr lang="en-US" sz="2600" err="1"/>
              <a:t>исту</a:t>
            </a:r>
            <a:r>
              <a:rPr lang="en-US" sz="2600"/>
              <a:t> </a:t>
            </a:r>
            <a:r>
              <a:rPr lang="en-US" sz="2600" err="1"/>
              <a:t>одлуку</a:t>
            </a:r>
            <a:r>
              <a:rPr lang="en-US" sz="2600"/>
              <a:t> </a:t>
            </a:r>
            <a:r>
              <a:rPr lang="en-US" sz="2600" err="1"/>
              <a:t>на</a:t>
            </a:r>
            <a:r>
              <a:rPr lang="en-US" sz="2600"/>
              <a:t> </a:t>
            </a:r>
            <a:r>
              <a:rPr lang="en-US" sz="2600" err="1"/>
              <a:t>крају</a:t>
            </a:r>
            <a:r>
              <a:rPr lang="en-US" sz="2600"/>
              <a:t>.</a:t>
            </a:r>
          </a:p>
          <a:p>
            <a:r>
              <a:rPr lang="en-US" sz="2600" err="1"/>
              <a:t>Споразум</a:t>
            </a:r>
            <a:r>
              <a:rPr lang="en-US" sz="2600"/>
              <a:t>: </a:t>
            </a:r>
            <a:r>
              <a:rPr lang="en-US" sz="2600" err="1"/>
              <a:t>Сви</a:t>
            </a:r>
            <a:r>
              <a:rPr lang="en-US" sz="2600"/>
              <a:t> </a:t>
            </a:r>
            <a:r>
              <a:rPr lang="en-US" sz="2600" err="1"/>
              <a:t>процеси</a:t>
            </a:r>
            <a:r>
              <a:rPr lang="en-US" sz="2600"/>
              <a:t> </a:t>
            </a:r>
            <a:r>
              <a:rPr lang="en-US" sz="2600" err="1"/>
              <a:t>морају</a:t>
            </a:r>
            <a:r>
              <a:rPr lang="en-US" sz="2600"/>
              <a:t> </a:t>
            </a:r>
            <a:r>
              <a:rPr lang="en-US" sz="2600" err="1"/>
              <a:t>донети</a:t>
            </a:r>
            <a:r>
              <a:rPr lang="en-US" sz="2600"/>
              <a:t> </a:t>
            </a:r>
            <a:r>
              <a:rPr lang="en-US" sz="2600" err="1"/>
              <a:t>исту</a:t>
            </a:r>
            <a:r>
              <a:rPr lang="en-US" sz="2600"/>
              <a:t> </a:t>
            </a:r>
            <a:r>
              <a:rPr lang="en-US" sz="2600" err="1"/>
              <a:t>одлуку</a:t>
            </a:r>
            <a:r>
              <a:rPr lang="en-US" sz="2600"/>
              <a:t>.</a:t>
            </a:r>
          </a:p>
          <a:p>
            <a:r>
              <a:rPr lang="en-US" sz="2600" err="1"/>
              <a:t>Валидност</a:t>
            </a:r>
            <a:r>
              <a:rPr lang="en-US" sz="2600"/>
              <a:t>: </a:t>
            </a:r>
            <a:r>
              <a:rPr lang="en-US" sz="2600" err="1"/>
              <a:t>Вредност</a:t>
            </a:r>
            <a:r>
              <a:rPr lang="en-US" sz="2600"/>
              <a:t> </a:t>
            </a:r>
            <a:r>
              <a:rPr lang="en-US" sz="2600" err="1"/>
              <a:t>мора</a:t>
            </a:r>
            <a:r>
              <a:rPr lang="en-US" sz="2600"/>
              <a:t> </a:t>
            </a:r>
            <a:r>
              <a:rPr lang="en-US" sz="2600" err="1"/>
              <a:t>потицати</a:t>
            </a:r>
            <a:r>
              <a:rPr lang="en-US" sz="2600"/>
              <a:t> </a:t>
            </a:r>
            <a:r>
              <a:rPr lang="en-US" sz="2600" err="1"/>
              <a:t>од</a:t>
            </a:r>
            <a:r>
              <a:rPr lang="en-US" sz="2600"/>
              <a:t> </a:t>
            </a:r>
            <a:r>
              <a:rPr lang="en-US" sz="2600" err="1"/>
              <a:t>једног</a:t>
            </a:r>
            <a:r>
              <a:rPr lang="en-US" sz="2600"/>
              <a:t> </a:t>
            </a:r>
            <a:r>
              <a:rPr lang="en-US" sz="2600" err="1"/>
              <a:t>од</a:t>
            </a:r>
            <a:r>
              <a:rPr lang="en-US" sz="2600"/>
              <a:t> </a:t>
            </a:r>
            <a:r>
              <a:rPr lang="en-US" sz="2600" err="1"/>
              <a:t>процеса</a:t>
            </a:r>
            <a:r>
              <a:rPr lang="en-US" sz="2600"/>
              <a:t>.</a:t>
            </a:r>
          </a:p>
          <a:p>
            <a:r>
              <a:rPr lang="en-US" sz="2600" err="1"/>
              <a:t>Престанак</a:t>
            </a:r>
            <a:r>
              <a:rPr lang="en-US" sz="2600"/>
              <a:t>: </a:t>
            </a:r>
            <a:r>
              <a:rPr lang="en-US" sz="2600" err="1"/>
              <a:t>Сви</a:t>
            </a:r>
            <a:r>
              <a:rPr lang="en-US" sz="2600"/>
              <a:t> </a:t>
            </a:r>
            <a:r>
              <a:rPr lang="en-US" sz="2600" err="1"/>
              <a:t>процеси</a:t>
            </a:r>
            <a:r>
              <a:rPr lang="en-US" sz="2600"/>
              <a:t> </a:t>
            </a:r>
            <a:r>
              <a:rPr lang="en-US" sz="2600" err="1"/>
              <a:t>морају</a:t>
            </a:r>
            <a:r>
              <a:rPr lang="en-US" sz="2600"/>
              <a:t> </a:t>
            </a:r>
            <a:r>
              <a:rPr lang="en-US" sz="2600" err="1"/>
              <a:t>донети</a:t>
            </a:r>
            <a:r>
              <a:rPr lang="en-US" sz="2600"/>
              <a:t> </a:t>
            </a:r>
            <a:r>
              <a:rPr lang="en-US" sz="2600" err="1"/>
              <a:t>одлуку</a:t>
            </a:r>
            <a:r>
              <a:rPr lang="en-US" sz="2600"/>
              <a:t>.</a:t>
            </a:r>
          </a:p>
          <a:p>
            <a:r>
              <a:rPr lang="en-US" sz="2600" b="1" i="1">
                <a:ea typeface="+mn-lt"/>
                <a:cs typeface="+mn-lt"/>
              </a:rPr>
              <a:t>„crash”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модел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отказа</a:t>
            </a:r>
            <a:endParaRPr lang="en-US" sz="2600">
              <a:ea typeface="+mn-lt"/>
              <a:cs typeface="+mn-lt"/>
            </a:endParaRPr>
          </a:p>
          <a:p>
            <a:r>
              <a:rPr lang="en-US" sz="2600" i="1">
                <a:ea typeface="+mn-lt"/>
                <a:cs typeface="+mn-lt"/>
              </a:rPr>
              <a:t>„omission fault”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модел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отказа</a:t>
            </a:r>
            <a:endParaRPr lang="en-US" sz="2600">
              <a:ea typeface="+mn-lt"/>
              <a:cs typeface="+mn-lt"/>
            </a:endParaRPr>
          </a:p>
          <a:p>
            <a:r>
              <a:rPr lang="en-US" sz="2600" i="1">
                <a:ea typeface="+mn-lt"/>
                <a:cs typeface="+mn-lt"/>
              </a:rPr>
              <a:t>„arbitrary faults”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модел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отказа</a:t>
            </a:r>
            <a:endParaRPr lang="en-US" sz="2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2889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8E9EB-97C8-C0DA-0FA5-E2FEAEB06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Избор</a:t>
            </a:r>
            <a:r>
              <a:rPr lang="en-US" dirty="0"/>
              <a:t> </a:t>
            </a:r>
            <a:r>
              <a:rPr lang="en-US" dirty="0" err="1"/>
              <a:t>предводника</a:t>
            </a:r>
            <a:r>
              <a:rPr lang="en-US" dirty="0"/>
              <a:t> - Bully </a:t>
            </a:r>
            <a:r>
              <a:rPr lang="en-US" dirty="0" err="1"/>
              <a:t>алгоритам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82912D8A-F1EF-1A21-8E41-B33EF58C8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6925" y="2493085"/>
            <a:ext cx="805815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1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0A4F-3D1F-F838-4351-8CB42CEF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0821" cy="1333584"/>
          </a:xfrm>
        </p:spPr>
        <p:txBody>
          <a:bodyPr/>
          <a:lstStyle/>
          <a:p>
            <a:r>
              <a:rPr lang="en-US" dirty="0" err="1"/>
              <a:t>Избор</a:t>
            </a:r>
            <a:r>
              <a:rPr lang="en-US" dirty="0"/>
              <a:t> </a:t>
            </a:r>
            <a:r>
              <a:rPr lang="en-US" dirty="0" err="1"/>
              <a:t>предводника</a:t>
            </a:r>
            <a:r>
              <a:rPr lang="en-US" dirty="0"/>
              <a:t> - Next-In-Line </a:t>
            </a:r>
            <a:r>
              <a:rPr lang="en-US" dirty="0" err="1"/>
              <a:t>алгоритам</a:t>
            </a:r>
          </a:p>
        </p:txBody>
      </p:sp>
      <p:pic>
        <p:nvPicPr>
          <p:cNvPr id="4" name="Content Placeholder 3" descr="A diagram of circles with numbers and a line&#10;&#10;AI-generated content may be incorrect.">
            <a:extLst>
              <a:ext uri="{FF2B5EF4-FFF2-40B4-BE49-F238E27FC236}">
                <a16:creationId xmlns:a16="http://schemas.microsoft.com/office/drawing/2014/main" id="{22597C8C-3D76-167C-BAB9-D10BE2CDDC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0212" y="2553494"/>
            <a:ext cx="879157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12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B785-951A-ADC0-7A62-F86418C1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Избог</a:t>
            </a:r>
            <a:r>
              <a:rPr lang="en-US" dirty="0"/>
              <a:t> </a:t>
            </a:r>
            <a:r>
              <a:rPr lang="en-US" dirty="0" err="1"/>
              <a:t>предводника</a:t>
            </a:r>
            <a:r>
              <a:rPr lang="en-US" dirty="0"/>
              <a:t> - Ring </a:t>
            </a:r>
            <a:r>
              <a:rPr lang="en-US" dirty="0" err="1"/>
              <a:t>алгоритам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3BCBD6E4-691A-BF71-1821-D0688EED7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262" y="2791619"/>
            <a:ext cx="8753475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3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04153-A4ED-C855-F330-BC384897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Модели конзистентности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97330-478E-056C-A560-6E9283EBD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Доступност</a:t>
            </a:r>
            <a:r>
              <a:rPr lang="en-US" dirty="0"/>
              <a:t>: </a:t>
            </a:r>
            <a:r>
              <a:rPr lang="en-US" dirty="0" err="1"/>
              <a:t>Одговарање</a:t>
            </a:r>
            <a:r>
              <a:rPr lang="en-US" dirty="0"/>
              <a:t> </a:t>
            </a:r>
            <a:r>
              <a:rPr lang="en-US" dirty="0" err="1"/>
              <a:t>чвора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сваки</a:t>
            </a:r>
            <a:r>
              <a:rPr lang="en-US" dirty="0"/>
              <a:t> </a:t>
            </a:r>
            <a:r>
              <a:rPr lang="en-US" dirty="0" err="1"/>
              <a:t>захтев</a:t>
            </a:r>
            <a:r>
              <a:rPr lang="en-US" dirty="0"/>
              <a:t>, </a:t>
            </a:r>
            <a:r>
              <a:rPr lang="en-US" dirty="0" err="1"/>
              <a:t>упркос</a:t>
            </a:r>
            <a:r>
              <a:rPr lang="en-US" dirty="0"/>
              <a:t> </a:t>
            </a:r>
            <a:r>
              <a:rPr lang="en-US" dirty="0" err="1"/>
              <a:t>отказима</a:t>
            </a:r>
            <a:r>
              <a:rPr lang="en-US" dirty="0"/>
              <a:t> у </a:t>
            </a:r>
            <a:r>
              <a:rPr lang="en-US" dirty="0" err="1"/>
              <a:t>систему</a:t>
            </a:r>
            <a:r>
              <a:rPr lang="en-US" dirty="0"/>
              <a:t>.</a:t>
            </a:r>
          </a:p>
          <a:p>
            <a:r>
              <a:rPr lang="en-US" dirty="0" err="1"/>
              <a:t>Конзистентност</a:t>
            </a:r>
            <a:r>
              <a:rPr lang="en-US" dirty="0"/>
              <a:t>: </a:t>
            </a:r>
            <a:r>
              <a:rPr lang="en-US" dirty="0" err="1"/>
              <a:t>Сви</a:t>
            </a:r>
            <a:r>
              <a:rPr lang="en-US" dirty="0"/>
              <a:t> </a:t>
            </a:r>
            <a:r>
              <a:rPr lang="en-US" dirty="0" err="1"/>
              <a:t>чворови</a:t>
            </a:r>
            <a:r>
              <a:rPr lang="en-US" dirty="0"/>
              <a:t> у </a:t>
            </a:r>
            <a:r>
              <a:rPr lang="en-US" dirty="0" err="1"/>
              <a:t>систему</a:t>
            </a:r>
            <a:r>
              <a:rPr lang="en-US" dirty="0"/>
              <a:t> у </a:t>
            </a:r>
            <a:r>
              <a:rPr lang="en-US" dirty="0" err="1"/>
              <a:t>сваком</a:t>
            </a:r>
            <a:r>
              <a:rPr lang="en-US" dirty="0"/>
              <a:t> </a:t>
            </a:r>
            <a:r>
              <a:rPr lang="en-US" dirty="0" err="1"/>
              <a:t>тренутку</a:t>
            </a:r>
            <a:r>
              <a:rPr lang="en-US" dirty="0"/>
              <a:t> </a:t>
            </a:r>
            <a:r>
              <a:rPr lang="en-US" dirty="0" err="1"/>
              <a:t>виде</a:t>
            </a:r>
            <a:r>
              <a:rPr lang="en-US" dirty="0"/>
              <a:t> </a:t>
            </a:r>
            <a:r>
              <a:rPr lang="en-US" dirty="0" err="1"/>
              <a:t>исте</a:t>
            </a:r>
            <a:r>
              <a:rPr lang="en-US" dirty="0"/>
              <a:t> </a:t>
            </a:r>
            <a:r>
              <a:rPr lang="en-US" dirty="0" err="1"/>
              <a:t>податке</a:t>
            </a:r>
            <a:r>
              <a:rPr lang="en-US" dirty="0"/>
              <a:t>.  </a:t>
            </a:r>
          </a:p>
          <a:p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конзистентности</a:t>
            </a:r>
            <a:r>
              <a:rPr lang="en-US" dirty="0"/>
              <a:t>: </a:t>
            </a:r>
            <a:r>
              <a:rPr lang="en-US" dirty="0" err="1"/>
              <a:t>Секвенцијална</a:t>
            </a:r>
            <a:r>
              <a:rPr lang="en-US" dirty="0"/>
              <a:t> </a:t>
            </a:r>
            <a:r>
              <a:rPr lang="en-US" dirty="0" err="1"/>
              <a:t>конзистентност</a:t>
            </a:r>
            <a:r>
              <a:rPr lang="en-US" dirty="0"/>
              <a:t>, </a:t>
            </a:r>
            <a:r>
              <a:rPr lang="en-US" dirty="0" err="1"/>
              <a:t>узрочна</a:t>
            </a:r>
            <a:r>
              <a:rPr lang="en-US" dirty="0"/>
              <a:t> </a:t>
            </a:r>
            <a:r>
              <a:rPr lang="en-US" dirty="0" err="1"/>
              <a:t>конзистентност</a:t>
            </a:r>
            <a:r>
              <a:rPr lang="en-US" dirty="0"/>
              <a:t>, </a:t>
            </a:r>
            <a:r>
              <a:rPr lang="en-US" dirty="0" err="1"/>
              <a:t>подесива</a:t>
            </a:r>
            <a:r>
              <a:rPr lang="en-US" dirty="0"/>
              <a:t> </a:t>
            </a:r>
            <a:r>
              <a:rPr lang="en-US" dirty="0" err="1"/>
              <a:t>конзистентност</a:t>
            </a:r>
            <a:r>
              <a:rPr lang="en-US" dirty="0"/>
              <a:t>, </a:t>
            </a:r>
            <a:r>
              <a:rPr lang="en-US" dirty="0" err="1"/>
              <a:t>јака</a:t>
            </a:r>
            <a:r>
              <a:rPr lang="en-US" dirty="0"/>
              <a:t> </a:t>
            </a:r>
            <a:r>
              <a:rPr lang="en-US" dirty="0" err="1"/>
              <a:t>евентуална</a:t>
            </a:r>
            <a:r>
              <a:rPr lang="en-US" dirty="0"/>
              <a:t> </a:t>
            </a:r>
            <a:r>
              <a:rPr lang="en-US" dirty="0" err="1"/>
              <a:t>конзистентност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05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83D1-C81A-D313-4620-78D92833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Дистрибуиране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 - 2PC</a:t>
            </a:r>
          </a:p>
        </p:txBody>
      </p:sp>
      <p:pic>
        <p:nvPicPr>
          <p:cNvPr id="4" name="Content Placeholder 3" descr="A diagram of a diagram&#10;&#10;AI-generated content may be incorrect.">
            <a:extLst>
              <a:ext uri="{FF2B5EF4-FFF2-40B4-BE49-F238E27FC236}">
                <a16:creationId xmlns:a16="http://schemas.microsoft.com/office/drawing/2014/main" id="{875DDD84-E796-148B-5BF0-3148CD43A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0737" y="2567781"/>
            <a:ext cx="80105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3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F0EA-6846-0CFD-AB76-BD24A8CF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Дистрибуиране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- 3PC</a:t>
            </a:r>
          </a:p>
        </p:txBody>
      </p:sp>
      <p:pic>
        <p:nvPicPr>
          <p:cNvPr id="4" name="Content Placeholder 3" descr="A diagram of a voting process&#10;&#10;AI-generated content may be incorrect.">
            <a:extLst>
              <a:ext uri="{FF2B5EF4-FFF2-40B4-BE49-F238E27FC236}">
                <a16:creationId xmlns:a16="http://schemas.microsoft.com/office/drawing/2014/main" id="{4454D75C-B9BB-2CA4-5A10-F69D2E749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0750" y="2886869"/>
            <a:ext cx="78105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384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DA2A-9651-B6E5-D4AD-4B9F86CB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Дистрибуиране</a:t>
            </a:r>
            <a:r>
              <a:rPr lang="en-US" dirty="0"/>
              <a:t> </a:t>
            </a:r>
            <a:r>
              <a:rPr lang="en-US" dirty="0" err="1"/>
              <a:t>трансакције</a:t>
            </a:r>
            <a:r>
              <a:rPr lang="en-US" dirty="0"/>
              <a:t> - Calvin</a:t>
            </a:r>
          </a:p>
        </p:txBody>
      </p:sp>
      <p:pic>
        <p:nvPicPr>
          <p:cNvPr id="4" name="Content Placeholder 3" descr="A diagram of a workflow&#10;&#10;AI-generated content may be incorrect.">
            <a:extLst>
              <a:ext uri="{FF2B5EF4-FFF2-40B4-BE49-F238E27FC236}">
                <a16:creationId xmlns:a16="http://schemas.microsoft.com/office/drawing/2014/main" id="{3FB2E5EA-BD59-F19E-3AC9-B70F88EE52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4466" y="1825625"/>
            <a:ext cx="60830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98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30967-9C81-BE5F-7BC7-778D3053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Paxos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8DE7A-5D20-1D45-76CC-91AD2ACB0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Предлагачи</a:t>
            </a:r>
            <a:r>
              <a:rPr lang="en-US" dirty="0"/>
              <a:t>: </a:t>
            </a:r>
            <a:r>
              <a:rPr lang="en-US" dirty="0" err="1"/>
              <a:t>Прихватају</a:t>
            </a:r>
            <a:r>
              <a:rPr lang="en-US" dirty="0"/>
              <a:t> </a:t>
            </a:r>
            <a:r>
              <a:rPr lang="en-US" dirty="0" err="1"/>
              <a:t>поруке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клијената</a:t>
            </a:r>
            <a:r>
              <a:rPr lang="en-US" dirty="0"/>
              <a:t> и </a:t>
            </a:r>
            <a:r>
              <a:rPr lang="en-US" dirty="0" err="1"/>
              <a:t>предлажу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примљене</a:t>
            </a:r>
            <a:r>
              <a:rPr lang="en-US" dirty="0"/>
              <a:t> </a:t>
            </a:r>
            <a:r>
              <a:rPr lang="en-US" dirty="0" err="1"/>
              <a:t>поруке</a:t>
            </a:r>
            <a:r>
              <a:rPr lang="en-US" dirty="0"/>
              <a:t> </a:t>
            </a:r>
            <a:r>
              <a:rPr lang="en-US" dirty="0" err="1"/>
              <a:t>прихвате</a:t>
            </a:r>
            <a:r>
              <a:rPr lang="en-US" dirty="0"/>
              <a:t>.</a:t>
            </a:r>
          </a:p>
          <a:p>
            <a:r>
              <a:rPr lang="en-US" dirty="0"/>
              <a:t>Acceptors: </a:t>
            </a:r>
            <a:r>
              <a:rPr lang="en-US" dirty="0" err="1"/>
              <a:t>Гласају</a:t>
            </a:r>
            <a:r>
              <a:rPr lang="en-US" dirty="0"/>
              <a:t> </a:t>
            </a:r>
            <a:r>
              <a:rPr lang="en-US" dirty="0" err="1"/>
              <a:t>да</a:t>
            </a:r>
            <a:r>
              <a:rPr lang="en-US" dirty="0"/>
              <a:t> </a:t>
            </a:r>
            <a:r>
              <a:rPr lang="en-US" dirty="0" err="1"/>
              <a:t>прихвате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одбију</a:t>
            </a:r>
            <a:r>
              <a:rPr lang="en-US" dirty="0"/>
              <a:t> </a:t>
            </a:r>
            <a:r>
              <a:rPr lang="en-US" dirty="0" err="1"/>
              <a:t>вредност</a:t>
            </a:r>
            <a:r>
              <a:rPr lang="en-US" dirty="0"/>
              <a:t> </a:t>
            </a:r>
            <a:r>
              <a:rPr lang="en-US" dirty="0" err="1"/>
              <a:t>препоручену</a:t>
            </a:r>
            <a:r>
              <a:rPr lang="en-US" dirty="0"/>
              <a:t> </a:t>
            </a:r>
            <a:r>
              <a:rPr lang="en-US" dirty="0" err="1"/>
              <a:t>од</a:t>
            </a:r>
            <a:r>
              <a:rPr lang="en-US" dirty="0"/>
              <a:t> </a:t>
            </a:r>
            <a:r>
              <a:rPr lang="en-US" dirty="0" err="1"/>
              <a:t>предлагача</a:t>
            </a:r>
            <a:r>
              <a:rPr lang="en-US" dirty="0"/>
              <a:t>.</a:t>
            </a:r>
          </a:p>
          <a:p>
            <a:r>
              <a:rPr lang="en-US" dirty="0"/>
              <a:t>Learners: </a:t>
            </a:r>
            <a:r>
              <a:rPr lang="en-US" err="1"/>
              <a:t>Уче</a:t>
            </a:r>
            <a:r>
              <a:rPr lang="en-US" dirty="0"/>
              <a:t> </a:t>
            </a:r>
            <a:r>
              <a:rPr lang="en-US" err="1"/>
              <a:t>која</a:t>
            </a:r>
            <a:r>
              <a:rPr lang="en-US" dirty="0"/>
              <a:t> </a:t>
            </a:r>
            <a:r>
              <a:rPr lang="en-US" err="1"/>
              <a:t>је</a:t>
            </a:r>
            <a:r>
              <a:rPr lang="en-US" dirty="0"/>
              <a:t> </a:t>
            </a:r>
            <a:r>
              <a:rPr lang="en-US" err="1"/>
              <a:t>вредност</a:t>
            </a:r>
            <a:r>
              <a:rPr lang="en-US" dirty="0"/>
              <a:t> </a:t>
            </a:r>
            <a:r>
              <a:rPr lang="en-US" err="1"/>
              <a:t>прихваћена</a:t>
            </a:r>
            <a:r>
              <a:rPr lang="en-US" dirty="0"/>
              <a:t>.</a:t>
            </a:r>
          </a:p>
          <a:p>
            <a:r>
              <a:rPr lang="en-US" dirty="0" err="1"/>
              <a:t>Један</a:t>
            </a:r>
            <a:r>
              <a:rPr lang="en-US" dirty="0"/>
              <a:t> </a:t>
            </a:r>
            <a:r>
              <a:rPr lang="en-US" dirty="0" err="1"/>
              <a:t>процес</a:t>
            </a:r>
            <a:r>
              <a:rPr lang="en-US" dirty="0"/>
              <a:t> </a:t>
            </a:r>
            <a:r>
              <a:rPr lang="en-US" dirty="0" err="1"/>
              <a:t>може</a:t>
            </a:r>
            <a:r>
              <a:rPr lang="en-US" dirty="0"/>
              <a:t> </a:t>
            </a:r>
            <a:r>
              <a:rPr lang="en-US" dirty="0" err="1"/>
              <a:t>имати</a:t>
            </a:r>
            <a:r>
              <a:rPr lang="en-US" dirty="0"/>
              <a:t> </a:t>
            </a:r>
            <a:r>
              <a:rPr lang="en-US" dirty="0" err="1"/>
              <a:t>више</a:t>
            </a:r>
            <a:r>
              <a:rPr lang="en-US" dirty="0"/>
              <a:t> </a:t>
            </a:r>
            <a:r>
              <a:rPr lang="en-US" dirty="0" err="1"/>
              <a:t>улога</a:t>
            </a:r>
            <a:r>
              <a:rPr lang="en-US" dirty="0"/>
              <a:t> </a:t>
            </a:r>
            <a:r>
              <a:rPr lang="en-US" dirty="0" err="1"/>
              <a:t>истовремено</a:t>
            </a:r>
            <a:r>
              <a:rPr lang="en-US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115499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D7F4-E778-BC2E-B9E5-1EB9CE982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Проблеми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Paxos </a:t>
            </a:r>
            <a:r>
              <a:rPr lang="en-US" dirty="0" err="1"/>
              <a:t>алгоритма</a:t>
            </a:r>
          </a:p>
        </p:txBody>
      </p:sp>
      <p:pic>
        <p:nvPicPr>
          <p:cNvPr id="4" name="Content Placeholder 3" descr="A graph with lines and arrows&#10;&#10;AI-generated content may be incorrect.">
            <a:extLst>
              <a:ext uri="{FF2B5EF4-FFF2-40B4-BE49-F238E27FC236}">
                <a16:creationId xmlns:a16="http://schemas.microsoft.com/office/drawing/2014/main" id="{B5329DD2-6A81-5D0A-40BD-561CE81C5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8709" y="1686719"/>
            <a:ext cx="8810625" cy="2190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285B89-D5B6-6D62-8104-39B7B90EE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724" y="4045865"/>
            <a:ext cx="8905875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22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F51E-AAD2-2AF6-1161-2DB79E3CF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Проблеми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Paxos </a:t>
            </a:r>
            <a:r>
              <a:rPr lang="en-US" dirty="0" err="1"/>
              <a:t>алгоритма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92F631-1FD2-4E10-6B98-16C89E29B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7812" y="2375748"/>
            <a:ext cx="90963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46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13F2-DAEF-290A-8B39-39534EB6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17276-690A-0B20-DE44-C143C099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Raft </a:t>
            </a:r>
            <a:r>
              <a:rPr lang="en-US" dirty="0" err="1"/>
              <a:t>алгоритам</a:t>
            </a:r>
          </a:p>
        </p:txBody>
      </p:sp>
      <p:pic>
        <p:nvPicPr>
          <p:cNvPr id="4" name="Content Placeholder 3" descr="A diagram of a heartbeat&#10;&#10;AI-generated content may be incorrect.">
            <a:extLst>
              <a:ext uri="{FF2B5EF4-FFF2-40B4-BE49-F238E27FC236}">
                <a16:creationId xmlns:a16="http://schemas.microsoft.com/office/drawing/2014/main" id="{840AA1DA-F989-98F4-F0F8-E93463EFAF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308" y="2446463"/>
            <a:ext cx="98774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0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Дистрибуирани фајл систем</vt:lpstr>
      <vt:lpstr>Конкурентно извршавање и дељена меморија</vt:lpstr>
      <vt:lpstr>Конкурентно извршавање и дељена меморија</vt:lpstr>
      <vt:lpstr>Проблем два генерала</vt:lpstr>
      <vt:lpstr>FLP Немогућност и модели отказа</vt:lpstr>
      <vt:lpstr>Избор предводника - Bully алгоритам</vt:lpstr>
      <vt:lpstr>Избор предводника - Next-In-Line алгоритам</vt:lpstr>
      <vt:lpstr>Избог предводника - Ring алгоритам</vt:lpstr>
      <vt:lpstr>Модели конзистентности</vt:lpstr>
      <vt:lpstr>Дистрибуиране трансакције - 2PC</vt:lpstr>
      <vt:lpstr>Дистрибуиране трансакције - 3PC</vt:lpstr>
      <vt:lpstr>Дистрибуиране трансакције - Calvin</vt:lpstr>
      <vt:lpstr>Paxos</vt:lpstr>
      <vt:lpstr>Проблеми код Paxos алгоритма</vt:lpstr>
      <vt:lpstr>Проблеми код Paxos алгоритма</vt:lpstr>
      <vt:lpstr>Raft алгоритам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174</cp:revision>
  <dcterms:created xsi:type="dcterms:W3CDTF">2026-01-19T08:55:05Z</dcterms:created>
  <dcterms:modified xsi:type="dcterms:W3CDTF">2026-01-19T11:53:24Z</dcterms:modified>
</cp:coreProperties>
</file>